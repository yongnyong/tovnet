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1b10206df34a7c" /><Relationship Type="http://schemas.openxmlformats.org/officeDocument/2006/relationships/extended-properties" Target="/docProps/app.xml" Id="R5797f52999fd4109" /><Relationship Type="http://schemas.openxmlformats.org/officeDocument/2006/relationships/officeDocument" Target="/ppt/presentation.xml" Id="R46b13ae47b9c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2727d76d54069"/>
  </p:sldMasterIdLst>
  <p:notesMasterIdLst>
    <p:notesMasterId xmlns:r="http://schemas.openxmlformats.org/officeDocument/2006/relationships" r:id="Rd89e7d0d36734004"/>
  </p:notesMasterIdLst>
  <p:sldIdLst>
    <p:sldId xmlns:r="http://schemas.openxmlformats.org/officeDocument/2006/relationships" id="256" r:id="Rf698e62ff66b44ef"/>
    <p:sldId xmlns:r="http://schemas.openxmlformats.org/officeDocument/2006/relationships" id="257" r:id="R1e811897a7494724"/>
    <p:sldId xmlns:r="http://schemas.openxmlformats.org/officeDocument/2006/relationships" id="258" r:id="Rf8c20d332d6840bd"/>
    <p:sldId xmlns:r="http://schemas.openxmlformats.org/officeDocument/2006/relationships" id="259" r:id="Re57473675db14f03"/>
    <p:sldId xmlns:r="http://schemas.openxmlformats.org/officeDocument/2006/relationships" id="260" r:id="Rbf8dca9abead45e9"/>
    <p:sldId xmlns:r="http://schemas.openxmlformats.org/officeDocument/2006/relationships" id="261" r:id="R15416e707884474a"/>
    <p:sldId xmlns:r="http://schemas.openxmlformats.org/officeDocument/2006/relationships" id="262" r:id="R6e21cdc801f0401e"/>
    <p:sldId xmlns:r="http://schemas.openxmlformats.org/officeDocument/2006/relationships" id="263" r:id="Rf9a5fbe915cd4f53"/>
    <p:sldId xmlns:r="http://schemas.openxmlformats.org/officeDocument/2006/relationships" id="264" r:id="Rb4c8b25b07d74a45"/>
    <p:sldId xmlns:r="http://schemas.openxmlformats.org/officeDocument/2006/relationships" id="265" r:id="R00e6de430af64761"/>
    <p:sldId xmlns:r="http://schemas.openxmlformats.org/officeDocument/2006/relationships" id="266" r:id="R073cf60cd0014e2c"/>
    <p:sldId xmlns:r="http://schemas.openxmlformats.org/officeDocument/2006/relationships" id="267" r:id="R78fa148627dd4e16"/>
    <p:sldId xmlns:r="http://schemas.openxmlformats.org/officeDocument/2006/relationships" id="268" r:id="R876c7dc57c254973"/>
    <p:sldId xmlns:r="http://schemas.openxmlformats.org/officeDocument/2006/relationships" id="269" r:id="R88c25b4cfae74351"/>
    <p:sldId xmlns:r="http://schemas.openxmlformats.org/officeDocument/2006/relationships" id="270" r:id="Rfd39537c3c494d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bfbdf5c6904c57" /><Relationship Type="http://schemas.openxmlformats.org/officeDocument/2006/relationships/slideMaster" Target="/ppt/slideMasters/slideMaster1.xml" Id="R8a12727d76d54069" /><Relationship Type="http://schemas.openxmlformats.org/officeDocument/2006/relationships/notesMaster" Target="/ppt/notesMasters/notesMaster1.xml" Id="Rd89e7d0d36734004" /><Relationship Type="http://schemas.openxmlformats.org/officeDocument/2006/relationships/presProps" Target="/ppt/presProps.xml" Id="R0a8d38b08e434135" /><Relationship Type="http://schemas.openxmlformats.org/officeDocument/2006/relationships/viewProps" Target="/ppt/viewProps.xml" Id="R3707eb3664ed4302" /><Relationship Type="http://schemas.openxmlformats.org/officeDocument/2006/relationships/tableStyles" Target="/ppt/tableStyles.xml" Id="Rbea96ac6c5794883" /><Relationship Type="http://schemas.openxmlformats.org/officeDocument/2006/relationships/slide" Target="/ppt/slides/slide1.xml" Id="Rf698e62ff66b44ef" /><Relationship Type="http://schemas.openxmlformats.org/officeDocument/2006/relationships/slide" Target="/ppt/slides/slide2.xml" Id="R1e811897a7494724" /><Relationship Type="http://schemas.openxmlformats.org/officeDocument/2006/relationships/slide" Target="/ppt/slides/slide3.xml" Id="Rf8c20d332d6840bd" /><Relationship Type="http://schemas.openxmlformats.org/officeDocument/2006/relationships/slide" Target="/ppt/slides/slide4.xml" Id="Re57473675db14f03" /><Relationship Type="http://schemas.openxmlformats.org/officeDocument/2006/relationships/slide" Target="/ppt/slides/slide5.xml" Id="Rbf8dca9abead45e9" /><Relationship Type="http://schemas.openxmlformats.org/officeDocument/2006/relationships/slide" Target="/ppt/slides/slide6.xml" Id="R15416e707884474a" /><Relationship Type="http://schemas.openxmlformats.org/officeDocument/2006/relationships/slide" Target="/ppt/slides/slide7.xml" Id="R6e21cdc801f0401e" /><Relationship Type="http://schemas.openxmlformats.org/officeDocument/2006/relationships/slide" Target="/ppt/slides/slide8.xml" Id="Rf9a5fbe915cd4f53" /><Relationship Type="http://schemas.openxmlformats.org/officeDocument/2006/relationships/slide" Target="/ppt/slides/slide9.xml" Id="Rb4c8b25b07d74a45" /><Relationship Type="http://schemas.openxmlformats.org/officeDocument/2006/relationships/slide" Target="/ppt/slides/slide10.xml" Id="R00e6de430af64761" /><Relationship Type="http://schemas.openxmlformats.org/officeDocument/2006/relationships/slide" Target="/ppt/slides/slide11.xml" Id="R073cf60cd0014e2c" /><Relationship Type="http://schemas.openxmlformats.org/officeDocument/2006/relationships/slide" Target="/ppt/slides/slide12.xml" Id="R78fa148627dd4e16" /><Relationship Type="http://schemas.openxmlformats.org/officeDocument/2006/relationships/slide" Target="/ppt/slides/slide13.xml" Id="R876c7dc57c254973" /><Relationship Type="http://schemas.openxmlformats.org/officeDocument/2006/relationships/slide" Target="/ppt/slides/slide14.xml" Id="R88c25b4cfae74351" /><Relationship Type="http://schemas.openxmlformats.org/officeDocument/2006/relationships/slide" Target="/ppt/slides/slide15.xml" Id="Rfd39537c3c49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9863f20e6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a506adbf424004" /><Relationship Type="http://schemas.openxmlformats.org/officeDocument/2006/relationships/notesMaster" Target="/ppt/notesMasters/notesMaster1.xml" Id="R50675798173046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e55d449094087" /><Relationship Type="http://schemas.openxmlformats.org/officeDocument/2006/relationships/notesMaster" Target="/ppt/notesMasters/notesMaster1.xml" Id="R520bba1182d249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1f2fc4add54dc8" /><Relationship Type="http://schemas.openxmlformats.org/officeDocument/2006/relationships/notesMaster" Target="/ppt/notesMasters/notesMaster1.xml" Id="R0d3742c312914a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ca18a018ef4703" /><Relationship Type="http://schemas.openxmlformats.org/officeDocument/2006/relationships/notesMaster" Target="/ppt/notesMasters/notesMaster1.xml" Id="Rc05dede8cd16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18399d82cd43bc" /><Relationship Type="http://schemas.openxmlformats.org/officeDocument/2006/relationships/notesMaster" Target="/ppt/notesMasters/notesMaster1.xml" Id="R7e7bc170a6a5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3a2697fb6948d7" /><Relationship Type="http://schemas.openxmlformats.org/officeDocument/2006/relationships/notesMaster" Target="/ppt/notesMasters/notesMaster1.xml" Id="Rc1a93522b5224f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248fc9fef94875" /><Relationship Type="http://schemas.openxmlformats.org/officeDocument/2006/relationships/notesMaster" Target="/ppt/notesMasters/notesMaster1.xml" Id="R09a6a5b18ecd42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43d1a7986d4ee8" /><Relationship Type="http://schemas.openxmlformats.org/officeDocument/2006/relationships/notesMaster" Target="/ppt/notesMasters/notesMaster1.xml" Id="Rb8cc076a394644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e0fa01bea343ee" /><Relationship Type="http://schemas.openxmlformats.org/officeDocument/2006/relationships/notesMaster" Target="/ppt/notesMasters/notesMaster1.xml" Id="R7570f97db9894e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15e9947a4344ed" /><Relationship Type="http://schemas.openxmlformats.org/officeDocument/2006/relationships/notesMaster" Target="/ppt/notesMasters/notesMaster1.xml" Id="Rdd3e9215f6f946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5a25cc5e6a46b4" /><Relationship Type="http://schemas.openxmlformats.org/officeDocument/2006/relationships/notesMaster" Target="/ppt/notesMasters/notesMaster1.xml" Id="R51d6ae2066a841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3ad7aac19449ea" /><Relationship Type="http://schemas.openxmlformats.org/officeDocument/2006/relationships/notesMaster" Target="/ppt/notesMasters/notesMaster1.xml" Id="R03be9df4d5c848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7652ceffce4f38" /><Relationship Type="http://schemas.openxmlformats.org/officeDocument/2006/relationships/notesMaster" Target="/ppt/notesMasters/notesMaster1.xml" Id="R80d46057328346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5591c22f704786" /><Relationship Type="http://schemas.openxmlformats.org/officeDocument/2006/relationships/notesMaster" Target="/ppt/notesMasters/notesMaster1.xml" Id="R46da7024cc4a48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f34018572f48a9" /><Relationship Type="http://schemas.openxmlformats.org/officeDocument/2006/relationships/notesMaster" Target="/ppt/notesMasters/notesMaster1.xml" Id="R07cbd9f13887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[용어 설명]</a:t>
            </a:r>
          </a:p>
          <a:p xmlns:a="http://schemas.openxmlformats.org/drawingml/2006/main">
            <a:r>
              <a:t>OneFormer: 세그멘테이션(픽셀 단위 분류) 전용이 아니라 여러 비전 과제를 하나의 구조로 처리하는 범용 Transformer 모델입니다. Swin-Large는 그 안에서 이미지를 읽어들이는 백본(뼈대) 이름이며, 약 236M(2억 3,600만) 개의 파라미터를 가진 중대형급 모델입니다 — 최신 초대형 모델(수십억 파라미터)보다는 작지만, 엣지 실시간 세그멘테이션에서는 상당히 무거운 축에 속합니다.</a:t>
            </a:r>
          </a:p>
          <a:p xmlns:a="http://schemas.openxmlformats.org/drawingml/2006/main">
            <a:r>
              <a:t>Test mIoU 0.770 / 평균 지연 646ms: 각각 '정확도'와 '속도' 지표입니다. 정확도 계산 방식은 10번 슬라이드에서, 속도 개선 과정은 6번 슬라이드에서 자세히 다룹니다.</a:t>
            </a:r>
          </a:p>
          <a:p xmlns:a="http://schemas.openxmlformats.org/drawingml/2006/main">
            <a:r>
              <a:t>Phase 0~6: 2026.05~07 동안 모델 구조를 3번 바꾸고(5번 슬라이드), 아키텍처를 리팩터링하고(11번 슬라이드), 실제 운영까지 간(13번 슬라이드) 전체 여정의 단계 구분입니다.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[핵심 개념 풀이]</a:t>
            </a:r>
          </a:p>
          <a:p xmlns:a="http://schemas.openxmlformats.org/drawingml/2006/main">
            <a:r>
              <a:t>Full Resolution 단일 추론: 원래는 큰 이미지를 여러 조각(타일)으로 잘라 각각 AI에 넣었는데, 이제는 이미지 전체를 통째로 한 번에 넣습니다. 이렇게 바꾼 이유와 효과는 6번 슬라이드에서 수치로 보여드립니다.</a:t>
            </a:r>
          </a:p>
          <a:p xmlns:a="http://schemas.openxmlformats.org/drawingml/2006/main">
            <a:r>
              <a:t>DB 모니터링 기반 동적 제어: 예전에는 카메라를 추가/제거하려면 서버를 껐다 켜야 했다면, 지금은 DB(카메라 목록)를 30초마다 자동으로 확인해서 사람 개입 없이 반영합니다.</a:t>
            </a:r>
          </a:p>
          <a:p xmlns:a="http://schemas.openxmlformats.org/drawingml/2006/main">
            <a:r>
              <a:t>모듈형 계층 구조: 코드를 역할별 폴더로 나누고, 한쪽에서 다른 쪽으로만 참조하도록 규칙을 정했습니다(양방향 참조 금지). 이렇게 하면 한 부분을 고칠 때 다른 부분이 덩달아 깨지는 사고를 줄일 수 있습니다 — 자세한 구조는 11번 슬라이드.</a:t>
            </a:r>
          </a:p>
          <a:p xmlns:a="http://schemas.openxmlformats.org/drawingml/2006/main">
            <a:r>
              <a:t>WireGuard VPN: 원격 서버에 안전하게 접속하기 위한 암호화 터널입니다. 일반 인터넷 회선보다 보안 수준이 높습니다.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[파이프라인 용어 설명]</a:t>
            </a:r>
          </a:p>
          <a:p xmlns:a="http://schemas.openxmlformats.org/drawingml/2006/main">
            <a:r>
              <a:t>RTSP: CCTV가 영상을 실시간으로 전송하는 표준 프로토콜입니다. FFmpeg NVDEC는 이 영상을 압축 해제(디코딩)하는 작업을 CPU 대신 GPU 전용 하드웨어로 처리해 속도를 높이는 기술입니다.</a:t>
            </a:r>
          </a:p>
          <a:p xmlns:a="http://schemas.openxmlformats.org/drawingml/2006/main">
            <a:r>
              <a:t>BatchScheduler PULL 방식 / Skip-to-Latest: 프레임이 밀려도 오래된 프레임을 순서대로 처리하지 않고, 항상 '가장 최신 프레임'만 골라 처리합니다. 실시간 알람 시스템에서는 5초 전 화면보다 지금 화면이 중요하기 때문입니다.</a:t>
            </a:r>
          </a:p>
          <a:p xmlns:a="http://schemas.openxmlformats.org/drawingml/2006/main">
            <a:r>
              <a:t>bf16(bfloat16): 계산 정밀도를 32비트에서 16비트로 낮춰 속도와 메모리 사용량을 줄이는 기법입니다. 정확도 손실은 거의 없는 수준으로 관리됩니다.</a:t>
            </a:r>
          </a:p>
          <a:p xmlns:a="http://schemas.openxmlformats.org/drawingml/2006/main">
            <a:r>
              <a:t>HLS / MJPEG: 대시보드나 외부 화면에 영상을 실시간으로 내보내는 표준 스트리밍 포맷입니다. 별도 전용 플레이어 없이 웹브라우저에서도 재생 가능합니다.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[이 슬라이드가 중요한 이유]</a:t>
            </a:r>
          </a:p>
          <a:p xmlns:a="http://schemas.openxmlformats.org/drawingml/2006/main">
            <a:r>
              <a:t>'프로토타입이 아니라 실동작 코드'라는 말은 — 데모용으로 잠깐 돌려본 것이 아니라, 실제 서버에서 PID(프로세스 번호, 리눅스에서 프로그램이 살아있다는 증거)가 부여된 채로 계속 가동되고 있다는 뜻입니다. 즉 지금 당장 파일럿 현장에 배포해도 코드 레벨의 재작업이 필요 없습니다.</a:t>
            </a:r>
          </a:p>
          <a:p xmlns:a="http://schemas.openxmlformats.org/drawingml/2006/main">
            <a:r>
              <a:t>운영 인건비 절감 항목의 EventHandler는 '이상 감지 시 자동으로 캡처 저장 + 알람 발송'을 담당하는 내부 모듈 이름입니다. 사람이 CCTV 화면을 계속 지켜볼 필요가 없어진다는 의미입니다.</a:t>
            </a:r>
          </a:p>
          <a:p xmlns:a="http://schemas.openxmlformats.org/drawingml/2006/main">
            <a:r>
              <a:t>확장 가능한 구조: 카메라 1대를 추가할 때 서버 전체를 다시 설계할 필요 없이, Ingester라는 담당 모듈(스레드) 하나만 늘리면 됩니다 — 비용·개발기간 예측이 쉬워집니다.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[3단계 모델 선택 배경]</a:t>
            </a:r>
          </a:p>
          <a:p xmlns:a="http://schemas.openxmlformats.org/drawingml/2006/main">
            <a:r>
              <a:t>DeepLabV3+ (Phase 0): ResNet50이라는 비교적 오래되고 검증된 백본에 ImageNet(범용 이미지 100만 장) 사전학습을 적용한 베이스라인입니다. 정확도는 준수했지만 속도가 느려 실시간 서비스에 부적합했습니다(Batch Queue Full = 처리 대기열이 계속 밀리는 현상).</a:t>
            </a:r>
          </a:p>
          <a:p xmlns:a="http://schemas.openxmlformats.org/drawingml/2006/main">
            <a:r>
              <a:t>Fast-SCNN (Phase 1): 이름 그대로 '빠른' 경량 모델로 바꿔봤지만, 이번엔 속도는 확보했는데 조류 경계가 흐릿하게 나와 정밀도가 떨어졌습니다. 즉 속도와 정확도를 동시에 만족하는 모델이 아니었습니다.</a:t>
            </a:r>
          </a:p>
          <a:p xmlns:a="http://schemas.openxmlformats.org/drawingml/2006/main">
            <a:r>
              <a:t>OneFormer (Phase 2, 최종): Swin-Large라는 Vision Transformer 계열 백본을 쓰는 범용 세그멘테이션 모델입니다. ADE20K(범용 실내외 장면 20만 장 데이터셋)로 사전학습된 모델을, 저희 조류 도메인 데이터로 재학습(전이학습)시켜 정확도와 속도를 모두 확보했습니다.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[타일링 제거가 왜 핵심 돌파구인가]</a:t>
            </a:r>
          </a:p>
          <a:p xmlns:a="http://schemas.openxmlformats.org/drawingml/2006/main">
            <a:r>
              <a:t>기존 방식(타일링)은 큰 이미지를 1024×1024 조각 여러 개로 잘라 AI에 각각 넣고 다시 이어 붙였습니다. 문제는 GPU 연산량 자체보다, '조각마다 AI를 반복 호출하는 오버헤드'와 '조각을 이어붙이는 전처리 비용'이 병목이었다는 점입니다 — 그래서 GPU 사용량은 높은데 실제 처리 속도(FPS)는 낮았습니다.</a:t>
            </a:r>
          </a:p>
          <a:p xmlns:a="http://schemas.openxmlformats.org/drawingml/2006/main">
            <a:r>
              <a:t>해결책은 이미지를 자르지 않고 1920×1088 전체를 한 번에 넣는 것(Full Resolution 단일 추론)입니다. 결과적으로 평균 지연시간이 1481ms → 646ms로 2.3배 빨라졌고, 정확도(mIoU)도 0.3534 → 0.382로 함께 올랐습니다(이 수치는 Phase 2 전환 시점의 벤치마크 비교값이며, 최종 확정 성능인 Test mIoU 0.770과는 다른 수치입니다 — 자세한 mIoU 설명은 10번 슬라이드).</a:t>
            </a:r>
          </a:p>
          <a:p xmlns:a="http://schemas.openxmlformats.org/drawingml/2006/main">
            <a:r>
              <a:t>32-pixel Alignment / bfloat16 AMP / Zero-copy: 각각 'Swin Transformer가 요구하는 이미지 크기 규격에 맞추는 패딩(1080→1088)', '정밀도를 낮춰 연산 속도를 높이는 기법(최대 VRAM 6.33GB로 관리)', 'PyTorch와 Numpy 사이에서 데이터를 복사하지 않고 그대로 주고받아 메모리 낭비를 줄이는 기법'입니다.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[이 슬라이드가 나온 이유]</a:t>
            </a:r>
          </a:p>
          <a:p xmlns:a="http://schemas.openxmlformats.org/drawingml/2006/main">
            <a:r>
              <a:t>타일 경계에서 두 조각의 판정이 서로 어긋나면, 실제로는 하나로 이어진 조류인데 AI가 마치 두 개의 서로 다른 물체처럼 잘못 인식할 수 있습니다. 이미지 속 이 상황을 실제 검증 로그로 보여드리는 슬라이드입니다.</a:t>
            </a:r>
          </a:p>
          <a:p xmlns:a="http://schemas.openxmlformats.org/drawingml/2006/main">
            <a:r>
              <a:t>오탐(False Alarm) / 미탐(Missed Alarm): 각각 "없는데 있다고 잘못 알람"과 "있는데 놓쳐서 알람이 안 옴"을 뜻합니다. 오탐이 잦으면 불필요한 현장 출동 비용이, 미탐이 잦으면 실제 사고를 놓치는 리스크가 커집니다 — 두 가지 모두 시스템 신뢰도에 직결됩니다.</a:t>
            </a:r>
          </a:p>
          <a:p xmlns:a="http://schemas.openxmlformats.org/drawingml/2006/main">
            <a:r>
              <a:t>이 문제의 해결책이 6번 슬라이드의 Full Resolution 전환입니다. 타일 경계 자체를 없애버렸기 때문에 이 슬라이드에서 보여드리는 오탐/미탐 원인이 구조적으로 사라졌습니다.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[데이터·학습 전략 용어 설명]</a:t>
            </a:r>
          </a:p>
          <a:p xmlns:a="http://schemas.openxmlformats.org/drawingml/2006/main">
            <a:r>
              <a:t>Hybrid Loss (BCEWithLogitsLoss 50% + DiceLoss 50%): 조류 영역이 이미지 전체의 1~3%밖에 안 되는 극심한 클래스 불균형 문제 때문에, 일반적인 손실 함수(BCE) 하나만 쓰면 AI가 '그냥 다 배경이라고 찍는' 쪽으로 게을러질 수 있습니다. DiceLoss를 함께 써서 '작더라도 조류 영역을 놓치면 크게 벌점'을 주는 방식으로 보완했습니다.</a:t>
            </a:r>
          </a:p>
          <a:p xmlns:a="http://schemas.openxmlformats.org/drawingml/2006/main">
            <a:r>
              <a:t>Train 866장(70%) / Val 248장(20%) / Test 124장(10%): 전체 1,238장을 학습용/검증용/최종평가용으로 나눈 것입니다. 특히 '이미지 레벨'로 나눴다는 것은, 같은 장면(같은 카메라·같은 순간)이 Train과 Test에 동시에 섞여 들어가는 것을 막았다는 뜻입니다(Data Leakage 방지) — 왜 이 구분이 성능 지표의 신뢰도에 중요한지는 10번 슬라이드에서 이어집니다.</a:t>
            </a:r>
          </a:p>
          <a:p xmlns:a="http://schemas.openxmlformats.org/drawingml/2006/main">
            <a:r>
              <a:t>AdamW / CosineAnnealingLR: 각각 '모델 가중치를 업데이트하는 최적화 알고리즘'과 '학습이 진행될수록 학습 속도(lr)를 서서히 줄여 안정적으로 수렴시키는 스케줄'입니다.</a:t>
            </a:r>
          </a:p>
          <a:p xmlns:a="http://schemas.openxmlformats.org/drawingml/2006/main">
            <a:r>
              <a:t>증강 기법(ColorJitter, GaussianBlur 등): 실제 촬영 환경에서 발생하는 빛 반사, 흐릿함, 안개, 저각도 CCTV 앵글 등을 인위적으로 재현해 학습 데이터를 늘리고, 다양한 현장 조건에 강건하게 만드는 기법입니다.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[이 슬라이드의 숫자 읽는 법]</a:t>
            </a:r>
          </a:p>
          <a:p xmlns:a="http://schemas.openxmlformats.org/drawingml/2006/main">
            <a:r>
              <a:t>Test mIoU 0.770이 무엇이고 왜 'Test' 세트로 측정했는지에 대한 자세한 설명은 바로 다음 10번 슬라이드에서 별도로 다룹니다.</a:t>
            </a:r>
          </a:p>
          <a:p xmlns:a="http://schemas.openxmlformats.org/drawingml/2006/main">
            <a:r>
              <a:t>평가 방식에 나오는 F1-Score와 Pixel Accuracy는 mIoU를 보완하는 참고 지표입니다. 특히 Pixel Accuracy는 조류 영역이 워낙 작다 보니(1~3%) '전부 배경이라고 찍어도 90%대 후반'이 나올 수 있어 과신하면 안 되는 지표라는 점을 슬라이드에도 명시했습니다 — F1-Score를 더 중요하게 봐야 합니다.</a:t>
            </a:r>
          </a:p>
          <a:p xmlns:a="http://schemas.openxmlformats.org/drawingml/2006/main">
            <a:r>
              <a:t>Domain Shift(검증셋 대비 테스트셋 일반화 격차): 학습·검증에 쓰지 않은 최신 데이터(0518/0519 촬영분)에서도 성능이 유지되는지를 지속적으로 확인하고 있다는 의미로, 계절·조도 변화 등 실제 현장 변수에 대한 안전장치입니다.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[IoU / mIoU 계산 방식 – 상세]</a:t>
            </a:r>
          </a:p>
          <a:p xmlns:a="http://schemas.openxmlformats.org/drawingml/2006/main">
            <a:r>
              <a:t>IoU(Intersection over Union) = 예측 마스크와 정답 마스크의 교집합 픽셀 수 ÷ 합집합 픽셀 수. 이미지 1장마다 0~1 사이 값이 나옵니다.</a:t>
            </a:r>
          </a:p>
          <a:p xmlns:a="http://schemas.openxmlformats.org/drawingml/2006/main">
            <a:r>
              <a:t>mIoU(mean IoU) = 여러 이미지(또는 여러 클래스: 조류/배경)의 IoU를 평균낸 값. 저희 시스템은 "조류 영역"이 이미지 전체의 1~3%밖에 되지 않는 극단적 클래스 불균형이 있어(8번 슬라이드 Hybrid Loss 참고), 단순 정확도(Pixel Accuracy)만 보면 "다 배경이라고 찍어도 97% 정확도"처럼 착시가 생깁니다. mIoU는 이런 착시 없이 "조류를 얼마나 정확히 찾아냈는가"를 직접 반영하는 지표라 채택했습니다.</a:t>
            </a:r>
          </a:p>
          <a:p xmlns:a="http://schemas.openxmlformats.org/drawingml/2006/main">
            <a:r>
              <a:rPr b="1"/>
              <a:t>[왜 하필 "Test" mIoU인가]</a:t>
            </a:r>
          </a:p>
          <a:p xmlns:a="http://schemas.openxmlformats.org/drawingml/2006/main">
            <a:r>
              <a:t>8번 슬라이드에서 전체 1,238장을 Train 866장(70%)·Val 248장(20%)·Test 124장(10%)으로 나눴습니다. Train은 학습에 직접 사용, Val은 학습 중간에 하이퍼파라미터·조기종료 판단에 사용되므로 모델이 "간접적으로" 이 데이터에 최적화됩니다. Test 세트는 최종 모델이 한 번도 보지 않은 데이터라서, 실제 현장 CCTV에 배포했을 때 기대할 수 있는 성능과 가장 가깝습니다. 즉 Train/Val mIoU는 "얼마나 잘 외웠는가"에 가깝고, Test mIoU는 "실전에서 얼마나 잘하는가"를 보여주는 숫자입니다.</a:t>
            </a:r>
          </a:p>
          <a:p xmlns:a="http://schemas.openxmlformats.org/drawingml/2006/main">
            <a:r>
              <a:t>이미지 레벨로 Train/Val/Test를 분리했기 때문에(같은 장면이 여러 세트에 섞이는 Data Leakage 방지), Test mIoU가 실제보다 부풀려질 가능성도 낮췄습니다.</a:t>
            </a:r>
          </a:p>
          <a:p xmlns:a="http://schemas.openxmlformats.org/drawingml/2006/main">
            <a:r>
              <a:rPr b="1"/>
              <a:t>[0.770이라는 숫자의 의미]</a:t>
            </a:r>
          </a:p>
          <a:p xmlns:a="http://schemas.openxmlformats.org/drawingml/2006/main">
            <a:r>
              <a:t>0518/0519 최신 촬영분 기준, Test 124장에 대해 key_remap.py로 가중치 정합성을 재검증한 뒤 재현한 수치입니다(11번 슬라이드 이슈 #2 참고). 시맨틱 세그멘테이션 분야에서는 통상 mIoU 0.5 이상이면 실사용 가능한 수준으로 보고, 0.7대는 상용 서비스 품질로 평가되는 편입니다. 다만 조류처럼 경계가 흐릿한 대상은 라벨러 간에도 판정이 갈릴 수 있어, 100%에 가까운 수치를 목표로 삼기보다 오탐/미탐 실사용 지표(9번 슬라이드 F1-Score, Pixel Accuracy)와 함께 보는 것이 안전합니다.</a:t>
            </a:r>
          </a:p>
          <a:p xmlns:a="http://schemas.openxmlformats.org/drawingml/2006/main">
            <a:r>
              <a:t>참고: 6번 슬라이드의 "+0.0286 상승"은 이 0.770과는 다른 수치입니다 — Phase 2 전환 시점(타일링 vs Full Resolution) 벤치마크에서의 부분 비교값이며, 최종 확정 성능은 이 슬라이드의 0.770입니다.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[3단계 진단 프로세스 – 이슈 상세]</a:t>
            </a:r>
          </a:p>
          <a:p xmlns:a="http://schemas.openxmlformats.org/drawingml/2006/main">
            <a:r>
              <a:t>OOM-Killer 강제 종료: OOM은 'Out Of Memory'(메모리 부족)의 줄임말로, 리눅스 운영체제가 메모리를 다 써버린 프로세스를 강제로 죽이는 안전장치입니다. dmesg(시스템 로그)를 분석해 'CCTV 스트림이 끊겼다 재연결될 때마다 처리 대기열이 무한정 쌓이는' 원인을 찾았고, Skip-to-Latest 전략과 대기열 상한(Hard Cap)을 적용해 해결했습니다.</a:t>
            </a:r>
          </a:p>
          <a:p xmlns:a="http://schemas.openxmlformats.org/drawingml/2006/main">
            <a:r>
              <a:t>모델 웨이트 정합성 오류: '웨이트'는 AI 모델이 학습한 지식 자체(가중치 파일)입니다. 라이브러리(transformers) 버전이 바뀌면서 저장된 웨이트의 이름표(키) 445개가 새 버전과 맞지 않아, 모델이 학습된 지식 없이 무작위 초기 상태로 동작하는 심각한 버그였습니다. key_remap.py로 이름표를 새로 맞추고, verify_load.py로 '제대로 로드됐는지' 자동 검증하는 절차를 만들어 재발을 방지했습니다 — 이 검증 스크립트가 9·10번 슬라이드의 mIoU 0.770을 재현하는 데도 그대로 쓰였습니다.</a:t>
            </a:r>
          </a:p>
          <a:p xmlns:a="http://schemas.openxmlformats.org/drawingml/2006/main">
            <a:r>
              <a:t>타일링 스티칭 아티팩트: 6번 슬라이드에서 설명한 타일링 문제의 근본 원인 분석 버전입니다. 조각을 반복 호출하는 구조 자체가 문제였기에, 임시 땜질이 아니라 Full Resolution 전환이라는 구조적 해결책을 택했습니다.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[리팩터링 용어 설명]</a:t>
            </a:r>
          </a:p>
          <a:p xmlns:a="http://schemas.openxmlformats.org/drawingml/2006/main">
            <a:r>
              <a:t>단방향 의존성: common/utils → inference/ingestion/output → events → core 순서로만 서로를 참조할 수 있게 규칙을 정했다는 뜻입니다. 예를 들어 inference 모듈은 utils를 가져다 쓸 수 있지만, utils가 거꾸로 inference를 가져다 쓰는 것은 금지됩니다. 이렇게 하면 한쪽을 고쳤을 때 연쇄적으로 다른 곳이 깨지는 '순환 참조' 문제를 원천 차단할 수 있습니다.</a:t>
            </a:r>
          </a:p>
          <a:p xmlns:a="http://schemas.openxmlformats.org/drawingml/2006/main">
            <a:r>
              <a:t>core의 TovnetSegServer: 앞의 모든 모듈(수집·추론·출력·이벤트)을 하나로 지휘하는 오케스트레이터(총괄 실행기) 역할을 하는 최상위 컴포넌트입니다.</a:t>
            </a:r>
          </a:p>
          <a:p xmlns:a="http://schemas.openxmlformats.org/drawingml/2006/main">
            <a:r>
              <a:t>이 리팩터링 전에는 단일 실행 스크립트였다는 점이 핵심입니다 — 기능 하나를 고치려면 전체 코드를 다 이해해야 했지만, 지금은 담당 영역별로 나뉘어 있어 신규 인력 투입이나 유지보수가 훨씬 수월합니다.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[운영 현황 용어 설명]</a:t>
            </a:r>
          </a:p>
          <a:p xmlns:a="http://schemas.openxmlformats.org/drawingml/2006/main">
            <a:r>
              <a:t>PID 2404769: 리눅스에서 현재 실행 중인 프로세스에 부여되는 고유 번호입니다. 이 번호가 존재하고 계속 유지되고 있다는 것은 서버가 죽지 않고 안정적으로 돌아가고 있다는 가장 직접적인 증거입니다.</a:t>
            </a:r>
          </a:p>
          <a:p xmlns:a="http://schemas.openxmlformats.org/drawingml/2006/main">
            <a:r>
              <a:t>활성화 정책(Deferred Activation): 새 카메라를 추가했을 때 곧바로 '정상'으로 표시하지 않고, 첫 추론 결과가 실제로 정상 송출된 것을 확인한 뒤에야 enabled=1로 바꿉니다. 즉 '연결은 됐는데 실제로는 작동 안 하는' 상태를 정상으로 오인하지 않도록 만든 안전장치입니다.</a:t>
            </a:r>
          </a:p>
          <a:p xmlns:a="http://schemas.openxmlformats.org/drawingml/2006/main">
            <a:r>
              <a:t>문서화(ARCHITECTURE.md, DEVELOPER_GUIDE.md): 코드뿐 아니라 설계 문서도 최신 상태로 관리되고 있어, 향후 인력이 추가되거나 인수인계가 필요할 때 리스크가 낮다는 의미입니다.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[로드맵 용어 설명]</a:t>
            </a:r>
          </a:p>
          <a:p xmlns:a="http://schemas.openxmlformats.org/drawingml/2006/main">
            <a:r>
              <a:t>TTA(Test-Time Augmentation): 같은 이미지를 여러 방식으로 살짝 변형해 여러 번 추론한 뒤 결과를 평균 내는 기법입니다. 정확도는 오르지만(mIoU +0.02~0.05) 그만큼 계산량이 늘어 속도는 느려집니다(1.5~2배).</a:t>
            </a:r>
          </a:p>
          <a:p xmlns:a="http://schemas.openxmlformats.org/drawingml/2006/main">
            <a:r>
              <a:t>ONNX/TensorRT 배포: 지금은 PyTorch라는 개발용 프레임워크 위에서 돌아가는데, 이를 배포 전용 경량 포맷(ONNX/TensorRT)으로 변환하면 더 가볍고 빠르게 실행할 수 있습니다. 다양한 하드웨어(엣지 디바이스 등)에 이식하기도 쉬워집니다.</a:t>
            </a:r>
          </a:p>
          <a:p xmlns:a="http://schemas.openxmlformats.org/drawingml/2006/main">
            <a:r>
              <a:t>Self-Supervised Pretraining: 사람이 일일이 라벨(정답)을 달지 않은 영상만으로도 AI가 스스로 패턴을 학습하게 하는 기법입니다. 라벨링 비용을 크게 줄이면서도 신규 현장 데이터에 빠르게 적응시킬 수 있습니다.</a:t>
            </a:r>
          </a:p>
          <a:p xmlns:a="http://schemas.openxmlformats.org/drawingml/2006/main">
            <a:r>
              <a:t>Hard Example Mining / Multi-Camera Fusion / Continual Learning: 각각 '틀리기 쉬운 어려운 사례를 집중 학습', '여러 카메라 정보를 합쳐 한 카메라가 가려져도 판단 가능하게', '신규 카메라·계절 변화에 모델을 계속 점진적으로 적응'시키는 방향입니다.</a:t>
            </a:r>
          </a:p>
          <a:p xmlns:a="http://schemas.openxmlformats.org/drawingml/2006/main">
            <a:r>
              <a:t>Dynamic Thresholding / Temporal Consistency: '이미지마다 알람 기준을 다르게 자동 조정해 오탐을 줄이는 것'과 '연속된 프레임 사이의 판정이 갑자기 튀지 않도록 일관성을 강제하는 것'입니다.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[마무리 – 발표 시 강조 포인트]</a:t>
            </a:r>
          </a:p>
          <a:p xmlns:a="http://schemas.openxmlformats.org/drawingml/2006/main">
            <a:r>
              <a:t>전체 발표를 한 문장으로 요약하면: '타일링을 없애 속도(646ms, 2.3배 개선)를 확보하고, 모듈형 구조로 유지보수성을 확보했으며, 실제로 30초 주기 폴링 서버가 지금 이 순간에도 가동 중'이라는 3가지입니다.</a:t>
            </a:r>
          </a:p>
          <a:p xmlns:a="http://schemas.openxmlformats.org/drawingml/2006/main">
            <a:r>
              <a:t>질의응답에서 나올 수 있는 질문 대비: 'mIoU 0.770이 무슨 뜻이냐' → 10번 슬라이드, '왜 이렇게 느렸다가 빨라졌냐' → 6번 슬라이드, '진짜 돌아가고 있는 거 맞냐' → 4번·12번 슬라이드(PID 구동 확인)로 답변하시면 됩니다.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f93101d6146b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c7e4ee8b3a4263" /><Relationship Type="http://schemas.openxmlformats.org/officeDocument/2006/relationships/slideLayout" Target="/ppt/slideLayouts/slideLayout1.xml" Id="R231c2d6da65449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1c2d6da65449e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2ba4007a2478e" /><Relationship Type="http://schemas.openxmlformats.org/officeDocument/2006/relationships/notesSlide" Target="/ppt/notesSlides/notesSlide1.xml" Id="Rf012670e3fc7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495a81a404e4d" /><Relationship Type="http://schemas.openxmlformats.org/officeDocument/2006/relationships/notesSlide" Target="/ppt/notesSlides/notesSlide2.xml" Id="Rd5f65923a8cd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17bf58044857" /><Relationship Type="http://schemas.openxmlformats.org/officeDocument/2006/relationships/notesSlide" Target="/ppt/notesSlides/notesSlide3.xml" Id="R5a6c1e804591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b4b7e487345dd" /><Relationship Type="http://schemas.openxmlformats.org/officeDocument/2006/relationships/image" Target="/ppt/media/image.png" Id="R874b7e3e2bab4c7c" /><Relationship Type="http://schemas.openxmlformats.org/officeDocument/2006/relationships/notesSlide" Target="/ppt/notesSlides/notesSlide4.xml" Id="R2d0940bdcd91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e4d9d70e4ea9" /><Relationship Type="http://schemas.openxmlformats.org/officeDocument/2006/relationships/notesSlide" Target="/ppt/notesSlides/notesSlide5.xml" Id="R07e1f258a09348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e0b4e18d74d8c" /><Relationship Type="http://schemas.openxmlformats.org/officeDocument/2006/relationships/chart" Target="/ppt/slides/charts/chart1.xml" Id="Rc11df459a1d74f49" /><Relationship Type="http://schemas.openxmlformats.org/officeDocument/2006/relationships/chart" Target="/ppt/slides/charts/chart2.xml" Id="R2b8e6364c7904dcd" /><Relationship Type="http://schemas.openxmlformats.org/officeDocument/2006/relationships/notesSlide" Target="/ppt/notesSlides/notesSlide6.xml" Id="Rbd0a11970f8e46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483c954784229" /><Relationship Type="http://schemas.openxmlformats.org/officeDocument/2006/relationships/image" Target="/ppt/media/image2.png" Id="Rcab29f916c114707" /><Relationship Type="http://schemas.openxmlformats.org/officeDocument/2006/relationships/notesSlide" Target="/ppt/notesSlides/notesSlide7.xml" Id="R09c95567d5804a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42d956aa447b9" /><Relationship Type="http://schemas.openxmlformats.org/officeDocument/2006/relationships/notesSlide" Target="/ppt/notesSlides/notesSlide8.xml" Id="R509383097b084d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c365c6004515" /><Relationship Type="http://schemas.openxmlformats.org/officeDocument/2006/relationships/notesSlide" Target="/ppt/notesSlides/notesSlide9.xml" Id="R1ee5252ba6bb41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76b0c6ea144fc" /><Relationship Type="http://schemas.openxmlformats.org/officeDocument/2006/relationships/image" Target="/ppt/media/image3.png" Id="R988cd90352f44d91" /><Relationship Type="http://schemas.openxmlformats.org/officeDocument/2006/relationships/notesSlide" Target="/ppt/notesSlides/notesSlide10.xml" Id="R512cc77165bc4e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c569c130a47d8" /><Relationship Type="http://schemas.openxmlformats.org/officeDocument/2006/relationships/notesSlide" Target="/ppt/notesSlides/notesSlide11.xml" Id="Ra2c41e9c8f7547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3445296a44e0e" /><Relationship Type="http://schemas.openxmlformats.org/officeDocument/2006/relationships/notesSlide" Target="/ppt/notesSlides/notesSlide12.xml" Id="R16b3f4e89f9e46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1b9fb8c3d4f9c" /><Relationship Type="http://schemas.openxmlformats.org/officeDocument/2006/relationships/notesSlide" Target="/ppt/notesSlides/notesSlide13.xml" Id="Rb8a6c71f709d4f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ba3bb2db84729" /><Relationship Type="http://schemas.openxmlformats.org/officeDocument/2006/relationships/notesSlide" Target="/ppt/notesSlides/notesSlide14.xml" Id="R6f742323c1b44c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ffb366faf4724" /><Relationship Type="http://schemas.openxmlformats.org/officeDocument/2006/relationships/notesSlide" Target="/ppt/notesSlides/notesSlide15.xml" Id="R65d4635e29ff4efe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 xmlns:a="http://schemas.openxmlformats.org/drawingml/2006/main">
              <a:srgbClr val="1C729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6F3C"/>
              </a:solidFill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rgbClr val="16232B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Tiling (1024²)</c:v>
                </c:pt>
                <c:pt idx="1">
                  <c:v>Full Resolution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1481</c:v>
                </c:pt>
                <c:pt idx="1">
                  <c:v>646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5C7A88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Offset val="10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mIoU</c:v>
                </c:pt>
              </c:strCache>
            </c:strRef>
          </c:tx>
          <c:spPr>
            <a:solidFill xmlns:a="http://schemas.openxmlformats.org/drawingml/2006/main">
              <a:srgbClr val="1C729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6F3C"/>
              </a:solidFill>
            </c:spPr>
          </c:dPt>
          <c:dLbls>
            <c:numFmt formatCode="0.000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rgbClr val="16232B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Tiling (1024²)</c:v>
                </c:pt>
                <c:pt idx="1">
                  <c:v>Full Resolution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0.3534</c:v>
                </c:pt>
                <c:pt idx="1">
                  <c:v>0.382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5C7A88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Offset val="10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1C0EB2-D0EC-4969-83AF-7EB9C949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2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DC70D4-02CD-4978-AE27-6C4CFE5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>
              <a:alpha val="1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002B64-3EA2-4726-850B-1ABA159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15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A75588-4081-4B9E-B272-ED00EDD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TOVNET · SEG   PROJECT REVIEW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B18F52-0274-493D-941E-F184B46D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91440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TOVNET-SEG</a:t>
            </a:r>
            <a:endParaRPr sz="5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8646DD7-EE9A-44FD-8A71-17DE749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CCTV 고해상도 영상 기반 실시간 수면 조류(녹조·적조) 세그멘테이션 시스템</a:t>
            </a:r>
            <a:endParaRPr sz="1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D14352-3B51-47A9-882A-403F1349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29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30B1E1-5B91-4C4F-B309-C637824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50" b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개발 기간 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2026.05 ~ 2026.07  (Phase 0 – Phase 6)
</a:t>
            </a:r>
            <a:r>
              <a:rPr sz="1350" b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핵심 모델 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OneFormer (Swin-Large, ≈236M params)
</a:t>
            </a:r>
            <a:r>
              <a:rPr sz="1350" b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최종 성능 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mIoU 0.770  ·  평균 지연 646ms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DE0FD93-5F58-41D8-89FA-2C14953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원개발  성균관대학교 연구진  ·  기술자료 정리·발표  양호용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6184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ECD400-B10A-4FEB-A83B-B515DD94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PROJECT OVERVIEW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3A59B5-6B30-425C-8A6B-2959D6CF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프로젝트 개요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402675-918C-424C-B0B2-AF802A2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CCTV 영상 속 수면 부유 조류를 픽셀 단위로 분리하여, 점유율 계산 → 임계치 초과 시 알람·증거 저장까지 이어지는 엔드투엔드 파이프라인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B4FED2F-4696-460E-9629-DDD2CD2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9584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4C42B4-B558-4E91-A7B7-7D101C1B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4EEF2"/>
                </a:solidFill>
                <a:latin typeface="Cambria"/>
                <a:ea typeface="Cambria"/>
                <a:cs typeface="Cambria"/>
              </a:rPr>
              <a:t>01</a:t>
            </a:r>
            <a:endParaRPr sz="3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FC0ED8B-B261-48E0-9312-294A6B9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175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13DC988-095F-4A53-A122-3A12A12F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00400"/>
            <a:ext cx="3017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Full Resolution 단일 추론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8990A9-AAE5-414F-B212-955BB164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4048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타일링 오버헤드를 제거하고 1920×1088 전신 입력 → 단일 추론 → 결과 크롭 체계로 전환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128DE0-AE54-48DC-8269-6BE8858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48840"/>
            <a:ext cx="3529584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2082F5-FE3C-446E-A09C-4A97345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4EEF2"/>
                </a:solidFill>
                <a:latin typeface="Cambria"/>
                <a:ea typeface="Cambria"/>
                <a:cs typeface="Cambria"/>
              </a:rPr>
              <a:t>02</a:t>
            </a:r>
            <a:endParaRPr sz="3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B94BA95-2D71-4719-A04B-D66DDF98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0175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9100A45-E04E-4DEA-A557-6A8E92A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200400"/>
            <a:ext cx="3017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DB 모니터링 기반 동적 제어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EFBCF86-2941-4701-B40A-805DF30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4048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정적 실행에서 벗어나, DB를 주기적으로 폴링해 CCTV 추가/삭제를 실시간 감지하는 서버 아키텍처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89CC1C8-4794-4AE7-8D76-499BB03B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48840"/>
            <a:ext cx="3529584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08CF38-6093-4B12-A5AB-0DFF957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4EEF2"/>
                </a:solidFill>
                <a:latin typeface="Cambria"/>
                <a:ea typeface="Cambria"/>
                <a:cs typeface="Cambria"/>
              </a:rPr>
              <a:t>03</a:t>
            </a:r>
            <a:endParaRPr sz="3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96085D3-C032-42A7-AE21-A74CE3FD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0175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1BF7E7-5E1B-4CCE-A1CE-F628AC3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00400"/>
            <a:ext cx="3017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모듈형 계층 구조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EE1C810-05C6-46A5-9223-28B6ECFB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84048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utils → events → inference/ingestion/output → core로 이어지는 단방향 의존성 규칙 확립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07C2AF7-88EE-495B-B4A3-6D631C0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91672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BC45905-EA1A-40E1-9FD7-735E8E56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GPU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FBBFD54-6ED9-4931-8693-B6481AB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RTX A5000 · 24GB VRAM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271C7DB-837A-4AC9-A793-93CCDDB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158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모델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47263A9-3503-443C-BD0C-9BDCF3E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158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OneFormer Swin-Large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BA10188-85F2-4AEE-ACC2-7F90865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558" y="539496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575AA68-A620-4A8E-86D8-1F7C39AB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플랫폼 DB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72E5FEF-3219-44D5-B545-13C4012A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· 내부 플랫폼 DB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3008CE7-C2C8-440E-A12D-A9335E0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39496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5162D6-84F7-4BD9-BD81-E2A58318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네트워크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1DAD6A7-98EA-498B-900B-0558F849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WireGuard VPN 원격 서버</a:t>
            </a:r>
            <a:endParaRPr sz="12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B163D63-57D8-494D-A2AD-2CC15237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94" y="539496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BCECADB-2002-4716-A6CF-57B3DB24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43BCBE8-8E4D-49D9-9BF6-56EA26D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50318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832E96-810A-4F7B-93E0-49813CCA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58BA67-947D-4143-9520-FE650CC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실시간 처리 파이프라인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83B11B-20CD-45D9-AD83-D0C82126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RTSP 수집부터 알람·대시보드 송출까지, 5단계 파이프라인으로 구성된 프로덕션 시스템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3B3FB3-F385-4923-B6D8-646C0F67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F75E39-296F-4830-A073-B06F0D6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DFFD04-C60A-4630-AC3A-1FC704E3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40082C-A0CF-4601-8F68-F51B3CC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Ingestion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1A187A-798D-4D25-88A3-44352D6A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RTSP 스트림 수집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FFmpeg NVDEC 하드웨어 디코딩</a:t>
            </a:r>
            <a:endParaRPr sz="93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070502-77B4-4E90-909C-E1230B1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62E4942-3F9A-4E3F-B123-B2177F3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27B7FE-3F38-46E8-82AE-B5C24E9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710D2B-08E6-46A9-AAA8-DAEBCE27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222350-3FDE-44DB-AA2F-7100CCD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Scheduling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480CE2-5487-4432-BA4B-04C1F4F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BatchScheduler PULL 방식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Skip-to-Latest 큐 관리</a:t>
            </a:r>
            <a:endParaRPr sz="9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35956B8-F078-4845-B841-67912B8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90982E7-2C9D-4472-A0D0-EBA33BD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BD9ACB4-6AFD-4127-B0C1-F61458F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BE8971-99C2-43F4-818B-005B26A1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A4A6DB7-6108-4AEA-8EF7-41334BE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Inference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71DD7FE-6554-4855-B9D5-87A81F95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OneFormer Swin-Large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Full-Res 단일 추론(bf16)</a:t>
            </a:r>
            <a:endParaRPr sz="93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CDD3567-BAEF-4BAD-95AB-18923D28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CE34849-46B1-4236-BB8A-6802270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49EE095-8D38-4421-A5EB-09BCE45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02FBEC-455C-44A6-AB73-55679AF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E1D989B-6C7B-4263-BF49-D326377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Events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3FCB824-E0E1-44D8-BFA5-1C857FA4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점유율 계산 · 임계치 판정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알람 + 증거 스냅샷 저장</a:t>
            </a:r>
            <a:endParaRPr sz="93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ABA062-9A89-4272-A698-427DB0E1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F46CFFE-9F93-42EB-8794-AD70CA6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75578C6-110D-418D-BC98-12966759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56B70A2-7A26-4A2B-8D7F-7F5C726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15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EBACE9B-2640-4BF6-98DA-0928E402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Output</a:t>
            </a:r>
            <a:endParaRPr sz="14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E0AA02B-21EF-44EB-8B63-4F5A75A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HLS(/dev/shm) · MJPEG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대시보드 · 외부 API 연동</a:t>
            </a:r>
            <a:endParaRPr sz="93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1BA8160-A057-4F81-86CC-1C554179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기술 스택</a:t>
            </a:r>
            <a:endParaRPr sz="15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41D37EA-1A2D-49DD-AC45-27118D2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E911739-4812-4885-B28A-635A7D8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프레임워크</a:t>
            </a:r>
            <a:endParaRPr sz="11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0367302-4C74-42B6-86B6-17C49ED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89120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PyTorch · Transformers ≥ 5.9.0</a:t>
            </a:r>
            <a:endParaRPr sz="11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2793BC2-F6A3-45B2-A53B-E1B17DD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73168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E617FD1-2EC3-4AA1-A708-3AB9619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3168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정밀도</a:t>
            </a:r>
            <a:endParaRPr sz="11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82ADB8F-E8E1-42AA-9E36-2161CD6C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773168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bfloat16 / FP16 자동 혼합 정밀도(AMP)</a:t>
            </a:r>
            <a:endParaRPr sz="11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240E93A-A818-4B2D-9E44-EE5DE1DD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57216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98CED91-D6F8-4649-8895-050AAFD1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5721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스트리밍</a:t>
            </a:r>
            <a:endParaRPr sz="11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42187DB4-FF0D-4476-B1B6-11A833F7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157216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FFmpeg NVDEC · HLS (RAM 디스크)</a:t>
            </a:r>
            <a:endParaRPr sz="11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74B01A8-9A51-4B1E-B755-6193407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41264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9ACA06F-F109-4469-9898-DE8DC51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41264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웹 서버</a:t>
            </a:r>
            <a:endParaRPr sz="11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C79C00D9-7B7F-4B60-995E-3D378D3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541264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Flask (MJPEG + 대시보드)</a:t>
            </a:r>
            <a:endParaRPr sz="11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41D0C6E-A197-44C5-B101-F85E7B4B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25312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05A3F19A-CDF2-4743-9B10-69D48F0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25312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연동</a:t>
            </a:r>
            <a:endParaRPr sz="11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39DDBA5-DD8B-41DC-9BC2-DC1C11AA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925312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REST API · Redis 캐시 · SQLite WAL</a:t>
            </a:r>
            <a:endParaRPr sz="11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7855DC3C-0C66-4E24-AF94-DBE7B7EE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105150BB-629F-41E6-B233-010615DB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18864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E8E473-D2CF-49E6-ABB8-D2E56E4A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PROVEN IN PRODUCTION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EA8AC7-2F61-4E37-B6A7-DD03E71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설계도가 아닌, 실제 가동 중인 시스템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10265B-BA11-474D-8584-3662B88D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RTSP 수집부터 알람·대시보드 송출까지 전 구간이 코드 레벨로 검증된 프로덕션 아키텍처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5532188-5802-48EC-8B18-C26EF57F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6720840" cy="4233672"/>
          </a:xfrm>
          <a:prstGeom xmlns:a="http://schemas.openxmlformats.org/drawingml/2006/main" prst="roundRect">
            <a:avLst>
              <a:gd name="adj" fmla="val 1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b7e3e2bab4c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57400"/>
            <a:ext cx="6446520" cy="395935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F61E67A-CBA1-4E20-B713-DB32092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4187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이것이 비즈니스에 의미하는 것</a:t>
            </a:r>
            <a:endParaRPr sz="15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DFDF866-C458-4940-80BE-A9413066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50592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30257C-FD05-4378-A3F9-2A7129A3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368296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도입 리스크 최소화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CDB552-C317-4DD0-BA1E-42C1015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642616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프로토타입이 아닌 실동작 코드. PID 구동 확인, 즉시 파일럿 배포 가능</a:t>
            </a:r>
            <a:endParaRPr sz="103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EC68817-D51D-4D63-926A-0E7C2B18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9242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3F8DC4A-595D-488C-8EE9-CC93362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3310128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운영 인건비 절감</a:t>
            </a:r>
            <a:endParaRPr sz="12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35D3E4A-0FD3-495C-BC05-F6F6E8E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3584448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EventHandler가 알람·증거 저장을 자동화 → 상시 육안 모니터링 인력 불필요</a:t>
            </a:r>
            <a:endParaRPr sz="103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6302241-E2C8-4567-B629-F40650D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3425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79F9E41-CB48-4704-ACD3-7D6F612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4251960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확장 가능한 구조</a:t>
            </a:r>
            <a:endParaRPr sz="12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2CFD49-1E19-4DEC-A349-20C1309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4526280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카메라 1대 추가 시 Ingester 스레드만 증설 → 다수 CCTV 사이트로 선형 확장</a:t>
            </a:r>
            <a:endParaRPr sz="103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5E70002-E1FB-448B-BE21-89C6A85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27608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9B00CF7-E605-43DC-808F-99652EE2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5193792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표준 인프라 호환</a:t>
            </a:r>
            <a:endParaRPr sz="12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A81DFB0-B6A6-4EA9-A330-D825BCFA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5468112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HLS·MJPEG·REST API 등 범용 프로토콜 사용 → 기존 관제 대시보드에 즉시 연동</a:t>
            </a:r>
            <a:endParaRPr sz="103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6FC49F-4ADD-4DC6-8AE2-0F0D840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1AF27E-4B76-4947-95ED-30A62CF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01985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A98EF0-4F87-49FC-A427-A460E0E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MODEL EVOLUTION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37E877-A79E-4B03-8B79-57448EC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모델 아키텍처 진화: 3단계 선택 과정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1507E7-6D9B-4D03-BEB4-35EEB50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실시간성과 정확도의 균형을 찾기 위해 두 차례의 구조 전환을 거쳐 최종 모델을 확정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2A3444B-84FB-4D6D-B334-6BF5D8E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9584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8A9ABCD-34DF-4E7C-857D-A944E70C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Phase 0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956701-557E-4F89-B6C6-BC2BC14F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331720"/>
            <a:ext cx="1170432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EC2277-7705-4BCC-BCE3-62993C9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331720"/>
            <a:ext cx="11704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베이스라인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F65740-3F53-4A39-A004-B528D330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15768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DeepLabV3+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68661B-337F-4CC1-85F0-B6D2A36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ResNet50 · ImageNet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56C7DA-E90F-49B9-BA78-DAAFE09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0215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70E584B-3790-4F2B-BE2E-BD58896E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30168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정밀도 ▲ / 속도 ▼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BEEBC2-0416-4626-9045-55FBBDC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23360"/>
            <a:ext cx="30175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다중 스케일 특징 추출은 우수하나 FPS가 낮아 실시간 서비스에 부적합, Batch Queue Full 빈번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5E3702-F51B-42DE-AA51-9FEB989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48840"/>
            <a:ext cx="3529584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8E80A-E9EC-424A-B4D7-496AF57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000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Phase 1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2C6612-D7F4-4079-A67A-927DA6C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1170432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B1C20-6DA3-4A00-AF8D-CB358F5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11704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경량화 시도</a:t>
            </a:r>
            <a:endParaRPr sz="8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8F260B1-6BAB-41F4-B891-5774E33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715768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Fast-SCNN</a:t>
            </a:r>
            <a:endParaRPr sz="2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01B170B-4E7B-4DCF-8231-ECF962E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경량 실시간 모델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D97B709-6920-428A-9D50-2C9B2ED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50215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8D9F30D-C117-45B8-B39B-E7AB3C5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30168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속도 ▲ / 정밀도 ▼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EFF184-5834-450D-AD1F-05B213A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23360"/>
            <a:ext cx="30175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추론 속도는 크게 개선됐지만 조류 경계가 불명확해 정밀도가 저하, 하이브리드 운용 필요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1E85CB-4B0B-4F2F-9E60-25EAEB6E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48840"/>
            <a:ext cx="3529584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12700">
            <a:solidFill>
              <a:srgbClr val="0B3C5D"/>
            </a:solidFill>
            <a:prstDash val="solid"/>
          </a:ln>
          <a:effectLst xmlns:a="http://schemas.openxmlformats.org/drawingml/2006/main">
            <a:outerShdw blurRad="152400" dist="50800" dir="5400000" algn="bl" rotWithShape="0">
              <a:srgbClr val="0B3C5D">
                <a:alpha val="35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466DEC-9492-468C-A044-5E6685E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5000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Phase 2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27FEBF1-2BD4-4D73-A549-73AAF91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2331720"/>
            <a:ext cx="1170432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87F9EE6-2E55-4859-A37E-90946403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2331720"/>
            <a:ext cx="11704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최종 선택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4F6BB05-D38A-4CA1-9204-097AC98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715768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OneFormer</a:t>
            </a:r>
            <a:endParaRPr sz="2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CAEBFD3-CA6D-4435-BB0F-329E928A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Swin-Large · ≈236M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40FC1C3-E2F3-426B-A6CB-62D44A0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0215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6587B46-EFB5-472F-BF6E-90013C2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30168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정밀도 ▲ / 속도 ▲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59D5FD5-8D93-4228-A290-89E85C1D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23360"/>
            <a:ext cx="30175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Universal Segmentation + ADE20K 사전학습을 sludge 도메인으로 전이. 최종 채택 모델</a:t>
            </a:r>
            <a:endParaRPr sz="11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379CE97-CF61-42D0-9E02-0D26BB4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AEC9282-7C7A-460F-9649-C6C3BA4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96027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6AB3BA-0A98-49B0-AE73-3212F9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KEY BREAKTHROUGH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B61A8C-E3C5-4D54-8D22-74567C5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타일링 제거 → Full Resolution 단일 추론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509A64-131B-43CB-9026-F0AFEC77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“GPU 사용량은 높은데 FPS가 낮다” — 병목의 원인은 연산량이 아닌 타일 호출 횟수와 전처리 오버헤드였음</a:t>
            </a:r>
            <a:endParaRPr sz="13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EF0853-ED23-4E74-8D18-D741E593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평균 지연시간 (ms)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F24DD2-AFE5-4F8A-A131-3FFA261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Phase 2 전환 시점 벤치마크 (2026-06-15)</a:t>
            </a:r>
            <a:endParaRPr sz="950"/>
          </a:p>
        </p:txBody>
      </p:sp>
      <p:graphicFrame>
        <p:nvGraphicFramePr>
          <p:cNvPr id="31" name="Chart 0"/>
          <p:cNvGraphicFramePr/>
          <p:nvPr/>
        </p:nvGraphicFramePr>
        <p:xfrm>
          <a:off xmlns:a="http://schemas.openxmlformats.org/drawingml/2006/main" x="457200" y="2468880"/>
          <a:ext xmlns:a="http://schemas.openxmlformats.org/drawingml/2006/main" cx="5394960" cy="2103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1df459a1d74f49"/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D44EB23-F74B-4D81-94DF-D51940C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↓ 2.3배 개선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79A7C5-F906-423E-AA76-E98FB5E2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024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정확도 (mIoU)</a:t>
            </a:r>
            <a:endParaRPr sz="13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31C7201-00C6-4C71-8847-CDA0A30E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19456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Phase 2 전환 시점 벤치마크 (2026-06-15) · 참고: 최종 검증 mIoU는 ‘최종 성능 지표’ 슬라이드에서 별도 제시</a:t>
            </a:r>
            <a:endParaRPr sz="950"/>
          </a:p>
        </p:txBody>
      </p:sp>
      <p:graphicFrame>
        <p:nvGraphicFramePr>
          <p:cNvPr id="35" name="Chart 1"/>
          <p:cNvGraphicFramePr/>
          <p:nvPr/>
        </p:nvGraphicFramePr>
        <p:xfrm>
          <a:off xmlns:a="http://schemas.openxmlformats.org/drawingml/2006/main" x="6172200" y="2468880"/>
          <a:ext xmlns:a="http://schemas.openxmlformats.org/drawingml/2006/main" cx="5394960" cy="2103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8e6364c7904dcd"/>
          </a:graphicData>
        </a:graphic>
      </p:graphicFrame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03374F9-EFBC-49FD-885C-8DFD149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77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+0.0286 상승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CDD8DC8-A3C4-4590-8AC2-7E0F872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66360"/>
            <a:ext cx="3529584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C74A194-5535-427B-A1C9-61F77002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7608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32-pixel Alignment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CA10D4C-0336-405C-8A7A-E3B268E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86984"/>
            <a:ext cx="3127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1080→1088 패딩으로 Swin Transformer 차원 요구사항 충족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B67E229-F261-4963-9A5D-9F8F914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5166360"/>
            <a:ext cx="3529584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5018ABF-55D3-4304-B70D-CD30F5DD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527608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bfloat16 AMP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02C3405-3737-4355-BF99-5906071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5586984"/>
            <a:ext cx="3127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torch.cuda.amp.autocast()로 FP16 추론 가속, 최대 VRAM 6.33GB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B742FC5-71BE-4E8A-8EEF-1EB7D63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5166360"/>
            <a:ext cx="3529584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73CDABB-0139-445A-8449-AC5505B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7608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Zero-copy 아키텍처</a:t>
            </a:r>
            <a:endParaRPr sz="1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EA027E-C010-4A69-AF74-48EA63B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586984"/>
            <a:ext cx="3127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PyTorch↔Numpy 변환 시 메모리 복사 최소화</a:t>
            </a:r>
            <a:endParaRPr sz="1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66323BA-D5AC-485D-BC72-06FE4B54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BD847E-D322-410A-9A1A-741172D9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0667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B181A0-D857-41DC-AA72-F8E90A6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WHY ACCURACY MATTERS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BA6140-1268-452E-A3F9-8E368489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1픽셀의 오차가 알람의 신뢰도를 무너뜨린다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8EA0AF-A9AA-481D-B1C3-C5F6C97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타일 경계에서 발생한 예측 불일치가 어떻게 오탐·미탐으로 이어지는지, 실제 검증 로그로 확인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9AFCEBE-3453-4A26-B786-582BF81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7360920" cy="4069080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29f916c1147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57400"/>
            <a:ext cx="7086600" cy="379476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7EA3435-2459-4157-8586-AF9C700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20240"/>
            <a:ext cx="3502152" cy="406908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C801FF8-E62E-4DFD-B6E1-B9FD0CB3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103120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비즈니스 리스크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4B69F20-AD83-453A-B1AE-4FBFC01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6090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5282B0E-153A-4019-AC42-70580AB3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578608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오탐(False Alarm)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773ACAA-2310-48CC-B362-F5D49B7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852928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경계 불일치 영역이 오검출되어 불필요한 알람·현장 출동 비용 발생</a:t>
            </a:r>
            <a:endParaRPr sz="1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51B4CD1-221C-4819-B813-E88EBA88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935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4DFCB5D-D01B-4A7D-BC31-DE286A6D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11296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미탐(Missed Alarm)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3DD8ED-C271-4F37-8482-658C760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785616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끊긴 영역만큼 실제 점유율이 과소 계산 → 임계치 미달로 경보 누락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D7DCC43-976D-4289-AE06-3A01B50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5262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C4067F4-2A57-467C-81ED-6880DC81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443984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신뢰도 하락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D7AE435-913A-43EA-A1AE-DFB8856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718304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동일 조류를 타일마다 다르게 판정 → 운영자의 시스템 신뢰 저하</a:t>
            </a:r>
            <a:endParaRPr sz="1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A6F6404-225F-4D65-97A1-BAFF0440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5449824"/>
            <a:ext cx="3026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1FB37C6-1B16-462C-A25C-7505FC9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632704"/>
            <a:ext cx="313639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C8DB17D-A5D2-41AB-B20B-831AA0E0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724144"/>
            <a:ext cx="27706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해결 → Full Resolution 전환</a:t>
            </a:r>
            <a:endParaRPr sz="10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12A1357-9BBF-45F3-8F58-9D194E25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980176"/>
            <a:ext cx="277063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타일 경계 자체를 제거해 판정 불일치 원천 차단, 오탐·미탐 리스크를 구조적으로 해소</a:t>
            </a:r>
            <a:endParaRPr sz="93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94BB12B-6ECA-4890-8AF4-467D7C3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3F4D7E6-469A-4614-9E05-4641D7B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10054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24FF70-0408-471C-ABAB-409687B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DATASET &amp; TRAINING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9EB5BD-5571-4784-BCAB-7EE341BC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데이터셋 구성 및 학습 전략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F826C0-576A-4D62-AA2B-F505F29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291840" cy="48006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0005177-49FF-4533-A300-308020B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1,238</a:t>
            </a:r>
            <a:endParaRPr sz="4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FA1DB4-6C25-42E7-A8AE-19F5F477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원본-마스크 이미지 쌍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757678-024B-4BB3-B54F-6C0CF8D3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2834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574F3FB-B9E5-41FA-9B19-56E4D09E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Train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2E7A16-25CE-4937-A4F4-143582D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0632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866장 (70%)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3AEDEA3-54D7-443F-8273-20A61B0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Val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FEF1F7F-19A3-45B7-AAE9-C8D4892E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5204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248장 (20%)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D4B19E-5032-4C3F-BFBF-1FA4850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Test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9D50E6-86CA-4E70-9680-0CED035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9776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124장 (10%)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427866C-2B63-4D6C-B0B7-DCA12F14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2834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6CA93F0-A3A6-4311-A12A-CAD0302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54880"/>
            <a:ext cx="28346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이미지 레벨 분리로 Data Leakage 방지 · 4개 CCTV 소스에서 수집(6-1/6-2/9-1/Sokheng)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BFD926F-95F3-42EC-9A3A-EB62236B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1732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Hybrid Loss Function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1AB5F9-D4A9-4B00-BF9A-74D28DD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737360"/>
            <a:ext cx="7498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0.5 × BCEWithLogitsLoss  +  0.5 × DiceLoss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33899E-957F-4A05-AEF9-DB71164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029968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조류 픽셀이 전체의 1~3% 미만인 극심한 클래스 불균형 문제를 DiceLoss로 보완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B8CCD7D-80E5-4192-A543-03E997D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514600"/>
            <a:ext cx="74980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3FB0FA-026C-45B9-89E0-447B2CD3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Optimizer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16FA6C-CD1E-4D7D-99D6-14C5608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AdamW (lr=3e-4, weight decay=1e-4)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4EFC726-F67E-4142-A1C5-0BA3161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74980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C5A62E-AB5C-44A3-A51C-8BC7ACE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8036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Scheduler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5930FB7-1398-49C5-82BD-A1D9810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036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CosineAnnealingLR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2A883AC-4AE3-4CDB-90E8-C918395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46120"/>
            <a:ext cx="74980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2245D71-BF01-4767-BC0C-6E6EA38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61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Precision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AD7027E-4A9C-4B6F-B196-3529EA7F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612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bfloat16 / FP16 Mixed Precision (AMP)</a:t>
            </a:r>
            <a:endParaRPr sz="1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7FAC6E7-A74C-47D4-856E-B6BDA0D9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97764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수면 특화 데이터 증강 (Albumentations)</a:t>
            </a:r>
            <a:endParaRPr sz="14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584CC95-3DFB-47CA-91D8-EBEF9DCA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3434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907E9B9-EB6F-4E70-840A-1150DE8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4348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ColorJitter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9D21757-68FB-4604-B3DD-A64B9B7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7274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빛 반사·조명 변화 대응</a:t>
            </a:r>
            <a:endParaRPr sz="97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71DF08-2199-45F7-9187-843ABB3A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AC6FE7C-9A10-4F10-9AF7-F2833A2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4348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GaussianBlur / MotionBlur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C97699F-42DD-4120-AB90-E46024B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7274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흐릿한 경계·수면 파동 대응</a:t>
            </a:r>
            <a:endParaRPr sz="97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8B8DCEA-81E3-4044-A8A0-8970C204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2578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658B1F3-175B-4A7E-8002-CB6C6C53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53492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RandomBrightnessContrast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0BCF17C-8B3F-40E4-94E6-1141821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56418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안개·흐림 조건 모방</a:t>
            </a:r>
            <a:endParaRPr sz="97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8CAD246-3FA6-4986-A220-04B8BB2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1AA116-753C-4854-BEC0-6E197A4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3492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Horizontal/Vertical Flip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FE96D09-8E78-405F-8DD6-E7C9431E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6418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위치 불변성 및 저각도 CCTV 모방</a:t>
            </a:r>
            <a:endParaRPr sz="97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D64AA3FC-BB45-4071-926A-157277F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E0BE217-C733-4EFB-9977-561C561F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21377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276444-F2DE-4AB2-8F65-CA494803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PERFORMANCE RESULTS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ACFAEC-71BA-404C-9898-D31D3BE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최종 성능 지표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0538FAE-8B43-49E2-B16E-5DBBAD00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Full Resolution 전환과 모델 최적화를 거쳐 검증된 최종 시스템 성능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4EE346-EEA9-4A50-BB54-0983202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2B5C41-9BB9-4EAD-92FB-7AA76D4E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0.770</a:t>
            </a:r>
            <a:endParaRPr sz="3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A0E76B-B354-4AB3-9D55-1B94D7B6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mIoU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96BDBDB-F052-4303-9A67-56D12A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0518/0519 최신 데이터 기준, key_remap.py 검증 재현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AA798E8-8246-4385-A735-F6C7643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68044C5-19AE-44A4-A64F-8ADA237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646ms</a:t>
            </a:r>
            <a:endParaRPr sz="3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010BE6C-5290-4EBD-99D9-32CC3417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평균 추론 지연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50E2FD-1CFF-4F12-BA9A-87C9B6A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Tiling 대비 2.3배 개선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655A8D7-DF8A-46D3-84C8-EDC3938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922E8D-6581-4071-8B3E-80F06AAC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6.33GB</a:t>
            </a:r>
            <a:endParaRPr sz="3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A5116F-C81B-46A3-BEB0-90A8DDDE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최대 VRAM 사용량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E4DE80-E296-4A9C-93DB-67C7999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RTX A5000 24GB 中 안정적 여유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76D95BD-B5A0-4DAD-B861-FE30DA6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C4D273-A5B1-4B7E-8F64-86451869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30초</a:t>
            </a:r>
            <a:endParaRPr sz="3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3A4461-1E79-4936-9EBA-3AEBF50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DB 폴링 주기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143893-F59F-4E28-845B-1A6ABA5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CCTV 추가/삭제 실시간 반영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9071E83-B25E-4F1B-8871-BBC1BDE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평가 방식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39FF42-80AE-49FE-9D1D-DFEF50AE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IoU(Jaccard Index), F1-Score, Pixel Accuracy를 최신 데이터(0518/0519 촬영분)에 대해 산출 — 검증셋 대비 테스트셋 일반화 격차(Domain Shift)를 지속 모니터링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00A9B44-7FE5-44E8-8EA8-9FB7C65A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91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644A921-EFF5-4A37-98C8-4E824CF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F1-Score(중요도 上) · Pixel Accuracy(클래스 불균형으로 과신 경향 有, 참고 지표)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B97BC93-65DE-4521-82DA-0E2361D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5897CEC-596E-47D6-9B0C-B443D93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94264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5A4ADA-B6E0-472C-964E-248DB93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PERFORMANCE METRIC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EB76FF-DB6D-4B07-9F91-C8DD3F9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Test mIoU, 왜 이 지표로 성능을 검증했나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957A4C-FA5D-4235-8D7A-1B311DC5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AI가 찾아낸 조류 영역이 정답과 얼마나 겹치는지를 수치화한 지표 — 모델이 한 번도 보지 않은 데이터로 채점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16B14DC-DE95-4B49-99A6-EA555F6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7360920" cy="4069080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cd90352f44d9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57400"/>
            <a:ext cx="7086600" cy="379476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EB7103F-FAA0-43F9-A754-CF1B6157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20240"/>
            <a:ext cx="3502152" cy="406908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A1E281B-F687-41C0-B30F-9AE56B65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103120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핵심 포인트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BA2276D-7762-4018-9623-F6686A7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6090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305D974-673F-4D6A-859E-3DEAF79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578608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mIoU란?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2A01EC9-BB50-4ABF-9D16-27B047E7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852928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정답 영역과 AI 예측 영역이 겹치는 정도를 나타낸 정확도 지표(0~1)</a:t>
            </a:r>
            <a:endParaRPr sz="1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151E3EE-9960-4FAA-B2EA-5BE5CBE4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935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41631A7-8387-43BB-BA95-3CB83C1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11296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왜 "Test" 데이터인가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905E5EC-C50B-4DC7-96A6-28BD10B8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785616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학습에 쓰지 않은 데이터로 채점 → 실제 현장 배포 시 기대 성능을 정직하게 보여줌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6E91480-322D-4D26-A15D-3E3D73F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5262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ADEA4D-8FD6-484E-A5D3-1D8D99D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443984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0.770의 의미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9EEF90E-BA51-4884-92C5-473105A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718304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조류 영역의 약 77%를 정확히 검출 (0518/0519 최신 데이터로 검증 재현)</a:t>
            </a:r>
            <a:endParaRPr sz="1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EDC5DF7-4417-41E7-9791-F00A59E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5449824"/>
            <a:ext cx="3026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D42AB66-8BC4-4CC2-8615-F306F366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632704"/>
            <a:ext cx="313639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032055B-A5B7-4AE2-B6F3-009E5F30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724144"/>
            <a:ext cx="27706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핵심 → 정직한 성능 지표</a:t>
            </a:r>
            <a:endParaRPr sz="10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DFFE418-409C-4A2D-8D8C-1F2CCF5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980176"/>
            <a:ext cx="277063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데이터는 모델이 한 번도 본 적 없는 데이터라, 실전 배포 시 기대할 수 있는 성능에 가장 가까운 숫자입니다</a:t>
            </a:r>
            <a:endParaRPr sz="93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2EE1D1F-3273-49B1-830C-07FBDC2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58FB965-E867-48E0-989A-56F892A9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74294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02C1F2-5F9A-4A47-8E43-D294AF1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ENGINEERING RIGOR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2794D7-6EDD-43E7-9374-6C6DF11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기술적 난제와 검증된 해결 과정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8172F1-B2ED-492F-B624-E26F3D7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발생 현상 → 근본 원인 분석 → 정량적 해결책, 3단계 진단 프로세스로 총 12건의 이슈를 해결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77C226-93C2-472F-B81C-AC609CDD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9584" cy="35661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A9800E-1C06-4C77-9CF6-174248E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31720"/>
            <a:ext cx="3072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2026-06-10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C42A2E-6E1A-4AE0-A2B7-5AE9C2ED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06040"/>
            <a:ext cx="30723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OOM-Killer 강제 종료</a:t>
            </a:r>
            <a:endParaRPr sz="14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5F532F1-5391-4F00-89E9-56BA1719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54680"/>
            <a:ext cx="3054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90A457-B2D8-4590-9191-823FC71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644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현상</a:t>
            </a:r>
            <a:endParaRPr sz="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66944E-9F15-40D6-A268-E841A565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02152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python3 프로세스 15GB RAM 점유 후 OS 강제 종료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8C3413-FDFA-4047-B3F1-4E3FBAFA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690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원인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BD461D-E969-45D9-906E-13D34B7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06824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dmesg 로그 분석: 스트림 재연결 시 큐가 무제한으로 누적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3F05037-836E-4EA5-B8BF-402B2233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3163824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9A5A500-5839-4D36-8607-B0AF8A3F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46904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해결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2691D4-8DAD-4683-98A5-F6D9738A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148072"/>
            <a:ext cx="287121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BatchScheduler에 Skip-to-Latest 전략 + Hard Cap 적용</a:t>
            </a:r>
            <a:endParaRPr sz="9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20E0A2-0B53-40DC-8C1E-516FE0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48840"/>
            <a:ext cx="3529584" cy="35661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2C2EF78-83DA-4401-8F9A-90044A4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3072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2026-06-10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56D0F12-F1C3-4F6D-BD12-2DDA25DE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6040"/>
            <a:ext cx="30723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모델 웨이트 정합성 오류</a:t>
            </a:r>
            <a:endParaRPr sz="14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FDBE8F7-BEC0-40EE-9797-9AA84A10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4680"/>
            <a:ext cx="3054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2B3493-EF3B-4ABF-AEB7-DAEEC72C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644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현상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592A0-C67E-4949-8EC2-75D2D22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2152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웨이트 리맵핑 실패로 모델이 무작위 초기값으로 동작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946CFAC-4D63-45E2-86B4-989DE3A5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90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원인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0BF0295-B59C-4901-979D-B27C55E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6824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transformers 라이브러리 버전 불일치 (445개 키 불일치)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C4FFA6C-1869-4974-936B-6F2EFD2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4892040"/>
            <a:ext cx="3163824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48EA0CF-96E0-43F9-B154-5826BEA9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946904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해결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9347FDB-88D7-45C6-A0B3-0B31CD5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148072"/>
            <a:ext cx="287121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key_remap.py 리맵핑 + verify_load.py로 무결성 검증, mIoU 0.770 재현</a:t>
            </a:r>
            <a:endParaRPr sz="93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E0DF34-C583-4157-9643-504BEBA5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48840"/>
            <a:ext cx="3529584" cy="35661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1678311-27EF-453D-9661-7EC17947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331720"/>
            <a:ext cx="3072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2026-06-15</a:t>
            </a:r>
            <a:endParaRPr sz="9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C0A06B2-D9F9-479B-8CE1-41CE5E0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606040"/>
            <a:ext cx="30723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타일링 스티칭 아티팩트</a:t>
            </a:r>
            <a:endParaRPr sz="14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D99F40A-E3FC-42A8-B88D-8DB2F035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154680"/>
            <a:ext cx="3054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7228B95-1FA9-456D-9F83-73A4141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2644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현상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40E1C71-3A68-4AAF-902C-CDE861FC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502152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타일 경계에서 예측 불연속, GPU 커널 호출 오버헤드 과다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A5567FD-5E38-4B9D-956D-72638AD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0690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원인</a:t>
            </a:r>
            <a:endParaRPr sz="9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9FE960B-6034-4CBC-B7D5-5D666FC5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306824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1080p 처리 시 수십 개 타일 생성 → 반복 호출·중복 연산</a:t>
            </a:r>
            <a:endParaRPr sz="10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28829B2-5449-4CAD-BBC5-EB65CA0F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892040"/>
            <a:ext cx="3163824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7C76DF2-A550-4947-ACAF-EE40AA1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4946904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해결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42BB930-293A-4E44-A128-80CD190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5148072"/>
            <a:ext cx="287121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Resolution 단일 추론 전환으로 완전 제거 (Latency 2.3배 개선)</a:t>
            </a:r>
            <a:endParaRPr sz="93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2649704-FDDB-4A69-BD47-5D0FFE3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B9C608F-2834-46AC-B0DF-53D86A8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74703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2392AE-B900-4A50-B319-0BCA2B8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REFACTORING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825FD3-EBD2-4F8E-A126-8101D00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모듈형 아키텍처로의 전환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763EB0-BF52-45E9-B3CE-78CCB8D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단일 실행 스크립트에서, 단방향 의존성을 갖는 계층형 서버 구조로 재설계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A5B7172-C9F0-44EC-B9C0-264B736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109167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635D76E-7F53-4D77-A9DC-0770F6BC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common / utils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B9866B-672A-4EC5-A180-C6DD74A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48840"/>
            <a:ext cx="8165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공용 유틸리티, 로깅, 상수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F5DB97-007E-47AC-9BB8-87D158E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5768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630CD4D-A0A0-47C3-BDCB-FD04CB2E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25496"/>
            <a:ext cx="98115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C7293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7E7FC25-8281-4BB8-B187-599192F4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25496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inference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9A55CB-3004-43C6-87AC-CF7481F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825496"/>
            <a:ext cx="6885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OneFormer 추론 엔진 · 후처리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299351-5678-45FD-B18C-25464B2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2424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476D7B-B27A-4B1C-9AA3-1A6B819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02152"/>
            <a:ext cx="853135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4DBFD0-5A44-4A96-AE10-6E2B88C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02152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ingestion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3F2DD1-B3A0-4DE0-99E7-187EE360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02152"/>
            <a:ext cx="56052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RTSP 스트림 관리 · 수집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EBDF693-F1D8-41E3-88F5-9238959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B25FD94-59F1-41D4-A379-05BD433B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78808"/>
            <a:ext cx="725119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C7293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CB1E26-A981-4FE9-BE0E-FD49E1B6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output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106D73-379F-48ED-A4AF-BCC65B6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78808"/>
            <a:ext cx="4325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HLS · MJPEG 웹 서버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B68F71-6113-4539-B6AC-9B97B9F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5736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91A7AF9-73E2-4BDA-95C6-3E0D12E9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55464"/>
            <a:ext cx="597103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11ED5F5-CFA1-443D-8A57-50B209ED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55464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events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755CE83-A529-4D7F-AA10-4FD4B45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55464"/>
            <a:ext cx="30449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이벤트 판정 · 외부 API 연동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C6F91-051C-4FA3-853D-0813A0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2392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348632D-B8C1-4302-94E6-0718FB9F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469087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ACB4CD-9BE7-4137-9374-1E13A553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core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DF3E577-B016-4352-A341-2B568F31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532120"/>
            <a:ext cx="17647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TovnetSegServer 오케스트레이터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26A2BC0-9C26-4BD8-AAC5-C7D9281D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81928"/>
            <a:ext cx="11091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common → utils → inference/ingestion/output → events → core   (단방향 의존성, 순환 참조 방지)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E87D1EA-146F-474A-AB25-61CFF769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A1909B9-4D0C-488B-B27D-23AEB15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40091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F0C1DC-4F48-45D5-915D-BF27984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LIVE STATUS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3B7667-73CE-4AC5-B7EF-A3733547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현재 시스템 운영 현황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BB6C47-4AC2-4BBD-9EC7-ABC6E535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2026-07-12 기준, 모듈형 아키텍처 v2.0으로 안정적으로 가동 중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0FFBAD-6D8F-4086-81C4-2F8723CA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23774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B3A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E5BBB42-5BDC-483E-9CEC-6447E8F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1226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28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5593771-6301-48A5-B0F7-F3B2DC6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정상 구동 중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B2A52A-BC17-438D-8A3A-766F9065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5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A18D06-FD65-443D-9988-DA6F5D6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PID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2041D0-46C9-4B90-99E2-0247451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06040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2404769 (정상 구동)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E07817-7F97-4851-BA6A-A3C31849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3B8994-50DE-4CE4-84BC-0D2815CA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72968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아키텍처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2B350A-CD7A-4CB1-AF14-9E7DA95E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172968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모듈형 계층 구조 v2.0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36756FA-15F1-403A-85B9-96EDC57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50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805B9B7-9CD3-4963-A8BB-F0B4F82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9896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추론 엔진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0BE4DE-828A-4202-80DA-3EE067B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739896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OneFormer Swin-Large · Full Resolution (1920×1088)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601492-FBAD-47FB-AD68-2B3653D2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824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EB488F2-BC8E-45B0-B377-6657AD92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06824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DB 모니터링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5B8D7A-0789-48E1-9022-B781E2FA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06824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30초 폴링 주기 · 동적 스트림 배포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3ACB981-89B7-436D-85BE-900B77FB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73752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5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CAB1C91-C713-44D1-ABA8-3B1DF44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73752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활성화 정책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9FD0082-6696-4DCF-9485-9A19EACE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873752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첫 추론 결과 브로드캐스트 후 enabled=1 업데이트 (Deferred Activation)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F80EB0-F3B1-4567-987F-5C1AC6E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0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20582F9-BC57-4240-B1D6-051ED94D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문서화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860A1D-1B97-46B7-A228-49955F3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440680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ARCHITECTURE.md · DEVELOPER_GUIDE.md 최신화 완료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AA4FBB6-C0B0-4351-9AB4-6F804CA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DAD875C-DBF3-4664-9CDA-CAB0DCE0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63489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EAA129-7E70-49FF-9763-E9D55EE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ROADMAP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47D250-4D44-48C2-A8E1-6B520895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향후 개선 방향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6AEB10-2435-4A2A-AFBA-E229F405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29584" cy="49377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7751B98-F313-4EDB-878F-F94E3C01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2958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D7CA658-25E6-4805-9B5B-8E0C4B0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295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4C4558-5EE0-464B-ACF6-78E29BDF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17320"/>
            <a:ext cx="3090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단기 (High Priority)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276C42B-7E98-49FA-B84C-99618858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AC9CAD-B65A-4E7D-AA6C-FC9F6F0F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1031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TTA 적용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99A1A38-B477-4521-A3B0-C3AE757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mIoU +0.02~0.05, Latency 1.5~2배 증가 예상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497865-A6E5-4286-B762-49CFE236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181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307D3E-DA6B-4FFB-B0AB-73408D3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6324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Hard Example Mining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37CA8A-504B-490D-9864-FEB0FA3D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33756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저조도·안개 등 취약 샘플 집중 학습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452CD48-1989-486B-AD91-D5DF6F2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8F6F4D-E784-4561-9671-BA84DB6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02336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Dynamic Thresholding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422AAC8-C75A-4E49-99FD-D65ECFE4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29768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이미지별 적응형 임계값으로 오탐 감소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DC172A4-D5A7-4B7B-B5B5-3F23E206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417320"/>
            <a:ext cx="3529584" cy="49377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A98A2F7-4199-455E-81F6-F789A09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417320"/>
            <a:ext cx="352958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F13C23-F293-45B6-B4CD-6B9EFDC3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417320"/>
            <a:ext cx="35295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2A290A5-CDCA-449D-BE6F-1B7D7A8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1417320"/>
            <a:ext cx="3090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중장기 (Medium Priority)</a:t>
            </a:r>
            <a:endParaRPr sz="13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CF80927-739B-4D9C-9A73-2A104F60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F56846-9938-4FBC-AA93-8FA3FCD7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1031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ONNX/TensorRT 배포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7552BF0-90B6-45E8-AA93-4BFE78B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37744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PyTorch 런타임 없이 경량 추론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F74EC1-F2A0-4954-AF64-26F821A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1181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DEC225-00EB-4445-A12F-97AEBB9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06324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Multi-Camera Fusion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795AD71-79ED-406B-80C6-E40461E0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33756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카메라 가림·결손 대응력 향상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2DB005E-0105-4B96-B75E-9A1BAE30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F2BA041-DAB4-4262-BCCF-B4B5498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02336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Temporal Consistency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50BB883-CE32-4D9A-A438-78B6CEB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29768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프레임 간 일관성 강제, flickering 감소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B595E7D-AB2B-4AC5-85A2-64404EA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17320"/>
            <a:ext cx="3529584" cy="49377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C19B4F2-6618-47BA-AF70-931492BF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17320"/>
            <a:ext cx="352958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E836839-EF90-466F-873A-F9E1EF4F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17320"/>
            <a:ext cx="35295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B55B148-EE0F-43EE-A812-7959AEC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417320"/>
            <a:ext cx="3090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장기 (Exploration)</a:t>
            </a:r>
            <a:endParaRPr sz="13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7542A61-C253-4F89-866F-F27E085F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F31DCB3-9071-4681-936F-F7EDB97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1031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Self-Supervised Pretraining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6869F8F-2BFB-4609-9DBB-7847AC82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37744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소수 라벨로 높은 성능 달성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55E1255-586E-41D7-98F2-309FDECD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181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AC512BF-5AB4-4C11-BFC1-1EB9C49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06324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Continual Learning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D238C17-7B5D-484D-9A0E-221E09C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33756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신규 카메라·계절 조건 점진 적응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6C252B9-AB8C-4010-BFB4-57FF342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139571A-C4B2-4992-A4A7-02CF597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4880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61EE1A-C0B0-485D-96E4-581C295B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2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65A5E3-B065-43C1-B944-02FDA83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>
              <a:alpha val="16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B15AA8-F011-4A8E-94A7-A5D3E92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감사합니다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C5952C-F899-43DA-BE26-DE17B8F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8686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TOVNET-SEG는 Full Resolution 전환과 모듈형 아키텍처를 통해 실시간성과 정확도를 함께 확보했으며, 30초 폴링 기반 동적 제어 서버로 안정적으로 운영되고 있습니다.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247DB15-45F6-4B84-B880-2ECCE211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29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8735D2-E315-44EE-8E6F-A82EA36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Q &amp; A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240072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2026-08-13T02:56:09.0400000Z</dcterms:created>
  <dcterms:modified xsi:type="dcterms:W3CDTF">2026-08-13T02:56:09.0400000Z</dcterms:modified>
</coreProperties>
</file>