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d3555ce1ac4891" /><Relationship Type="http://schemas.openxmlformats.org/officeDocument/2006/relationships/extended-properties" Target="/docProps/app.xml" Id="R5b6ea890596c4dc3" /><Relationship Type="http://schemas.openxmlformats.org/officeDocument/2006/relationships/officeDocument" Target="/ppt/presentation.xml" Id="R61703e3063484d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dde16d14ef4f2c"/>
  </p:sldMasterIdLst>
  <p:notesMasterIdLst>
    <p:notesMasterId xmlns:r="http://schemas.openxmlformats.org/officeDocument/2006/relationships" r:id="R1f9aa82170924ab3"/>
  </p:notesMasterIdLst>
  <p:sldIdLst>
    <p:sldId xmlns:r="http://schemas.openxmlformats.org/officeDocument/2006/relationships" id="256" r:id="R62d2f86634284da4"/>
    <p:sldId xmlns:r="http://schemas.openxmlformats.org/officeDocument/2006/relationships" id="257" r:id="Rdef266b181504320"/>
    <p:sldId xmlns:r="http://schemas.openxmlformats.org/officeDocument/2006/relationships" id="258" r:id="R063a5bdf15c74522"/>
    <p:sldId xmlns:r="http://schemas.openxmlformats.org/officeDocument/2006/relationships" id="259" r:id="R9b1b95d05e204126"/>
    <p:sldId xmlns:r="http://schemas.openxmlformats.org/officeDocument/2006/relationships" id="260" r:id="Rde0fc017af6c4032"/>
    <p:sldId xmlns:r="http://schemas.openxmlformats.org/officeDocument/2006/relationships" id="261" r:id="R1fe38529f11f4e9b"/>
    <p:sldId xmlns:r="http://schemas.openxmlformats.org/officeDocument/2006/relationships" id="262" r:id="R846d367776c1421b"/>
    <p:sldId xmlns:r="http://schemas.openxmlformats.org/officeDocument/2006/relationships" id="263" r:id="R278f43541f1941e3"/>
    <p:sldId xmlns:r="http://schemas.openxmlformats.org/officeDocument/2006/relationships" id="264" r:id="R7e5972debb0840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24214446754de6" /><Relationship Type="http://schemas.openxmlformats.org/officeDocument/2006/relationships/slideMaster" Target="/ppt/slideMasters/slideMaster1.xml" Id="R26dde16d14ef4f2c" /><Relationship Type="http://schemas.openxmlformats.org/officeDocument/2006/relationships/notesMaster" Target="/ppt/notesMasters/notesMaster1.xml" Id="R1f9aa82170924ab3" /><Relationship Type="http://schemas.openxmlformats.org/officeDocument/2006/relationships/presProps" Target="/ppt/presProps.xml" Id="R0f89962f112b488f" /><Relationship Type="http://schemas.openxmlformats.org/officeDocument/2006/relationships/tableStyles" Target="/ppt/tableStyles.xml" Id="R8da914bf1d3c4daf" /><Relationship Type="http://schemas.openxmlformats.org/officeDocument/2006/relationships/slide" Target="/ppt/slides/slide1.xml" Id="R62d2f86634284da4" /><Relationship Type="http://schemas.openxmlformats.org/officeDocument/2006/relationships/slide" Target="/ppt/slides/slide2.xml" Id="Rdef266b181504320" /><Relationship Type="http://schemas.openxmlformats.org/officeDocument/2006/relationships/slide" Target="/ppt/slides/slide3.xml" Id="R063a5bdf15c74522" /><Relationship Type="http://schemas.openxmlformats.org/officeDocument/2006/relationships/slide" Target="/ppt/slides/slide4.xml" Id="R9b1b95d05e204126" /><Relationship Type="http://schemas.openxmlformats.org/officeDocument/2006/relationships/slide" Target="/ppt/slides/slide5.xml" Id="Rde0fc017af6c4032" /><Relationship Type="http://schemas.openxmlformats.org/officeDocument/2006/relationships/slide" Target="/ppt/slides/slide6.xml" Id="R1fe38529f11f4e9b" /><Relationship Type="http://schemas.openxmlformats.org/officeDocument/2006/relationships/slide" Target="/ppt/slides/slide7.xml" Id="R846d367776c1421b" /><Relationship Type="http://schemas.openxmlformats.org/officeDocument/2006/relationships/slide" Target="/ppt/slides/slide8.xml" Id="R278f43541f1941e3" /><Relationship Type="http://schemas.openxmlformats.org/officeDocument/2006/relationships/slide" Target="/ppt/slides/slide9.xml" Id="R7e5972debb0840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39b1ba21584b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5106d564eb4e66" /><Relationship Type="http://schemas.openxmlformats.org/officeDocument/2006/relationships/notesMaster" Target="/ppt/notesMasters/notesMaster1.xml" Id="R32124ae268ee4b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83b3d978044f19" /><Relationship Type="http://schemas.openxmlformats.org/officeDocument/2006/relationships/notesMaster" Target="/ppt/notesMasters/notesMaster1.xml" Id="Reefdfae68bb343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ace2f780314c4e" /><Relationship Type="http://schemas.openxmlformats.org/officeDocument/2006/relationships/notesMaster" Target="/ppt/notesMasters/notesMaster1.xml" Id="Rae291e5712c04b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337c629e5a4680" /><Relationship Type="http://schemas.openxmlformats.org/officeDocument/2006/relationships/notesMaster" Target="/ppt/notesMasters/notesMaster1.xml" Id="R0151c067fcb048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7e7ce3adf64e7c" /><Relationship Type="http://schemas.openxmlformats.org/officeDocument/2006/relationships/notesMaster" Target="/ppt/notesMasters/notesMaster1.xml" Id="Rf7b398762cb34f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95957af01844c7" /><Relationship Type="http://schemas.openxmlformats.org/officeDocument/2006/relationships/notesMaster" Target="/ppt/notesMasters/notesMaster1.xml" Id="Rcd59b5abeac34c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5876f95fa84715" /><Relationship Type="http://schemas.openxmlformats.org/officeDocument/2006/relationships/notesMaster" Target="/ppt/notesMasters/notesMaster1.xml" Id="R6607fce5ead44a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6d08dae8bf4e2a" /><Relationship Type="http://schemas.openxmlformats.org/officeDocument/2006/relationships/notesMaster" Target="/ppt/notesMasters/notesMaster1.xml" Id="R6ee93e2cafaf48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d64714b9674971" /><Relationship Type="http://schemas.openxmlformats.org/officeDocument/2006/relationships/notesMaster" Target="/ppt/notesMasters/notesMaster1.xml" Id="Rb5e435fe13c14a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v2.zip 소스코드 및 프로젝트 역할 설명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v2.zip: 제품/부품/BOM/재고/시리얼/업무/주간보고/A·S 관련 PHP 모듈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v2.zip 코드 분석: PHP, Bootstrap 5, Fetch API, PDO/MySQL, 세션, 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설명: 제조/시리얼은 사수 주도, 업무공유·A/S는 사용자 중심, 프로젝트 관리는 공동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v2.zip: task_admin.php, weekly_* 모듈, 댓글·파일·상태 관련 코드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v2.zip: sn_search.php 및 고객/판매/A·S 메뉴 구조</a:t>
            </a:r>
          </a:p>
          <a:p xmlns:a="http://schemas.openxmlformats.org/drawingml/2006/main">
            <a:r>
              <a:t>사용자 설명: 고객 A·S 프로세스 담당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v2.zip: PDO Prepared Statements, password_hash/password_verify, CSRF, transactions, SELECT ... FOR 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설명: 현재 개발 중</a:t>
            </a:r>
          </a:p>
          <a:p xmlns:a="http://schemas.openxmlformats.org/drawingml/2006/main">
            <a:r>
              <a:t>v2.zip 소스코드 기준 기능 범위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프로젝트 자료 및 역할 설명 종합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5c07336db4b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2c258f296d4c76" /><Relationship Type="http://schemas.openxmlformats.org/officeDocument/2006/relationships/slideLayout" Target="/ppt/slideLayouts/slideLayout1.xml" Id="R85393c9eac1946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393c9eac1946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051cebc71493f" /><Relationship Type="http://schemas.openxmlformats.org/officeDocument/2006/relationships/notesSlide" Target="/ppt/notesSlides/notesSlide1.xml" Id="R495c282959fd4f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29a9ebcb541a8" /><Relationship Type="http://schemas.openxmlformats.org/officeDocument/2006/relationships/notesSlide" Target="/ppt/notesSlides/notesSlide2.xml" Id="Rc773d3aed0f64b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3b56a5ec54401" /><Relationship Type="http://schemas.openxmlformats.org/officeDocument/2006/relationships/notesSlide" Target="/ppt/notesSlides/notesSlide3.xml" Id="Rb731f60d10c244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18e4bb0c34c9b" /><Relationship Type="http://schemas.openxmlformats.org/officeDocument/2006/relationships/notesSlide" Target="/ppt/notesSlides/notesSlide4.xml" Id="R1fd570e1bc1441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6a932b0b1455a" /><Relationship Type="http://schemas.openxmlformats.org/officeDocument/2006/relationships/notesSlide" Target="/ppt/notesSlides/notesSlide5.xml" Id="R8b19e6056b8d44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c7fee70cb4091" /><Relationship Type="http://schemas.openxmlformats.org/officeDocument/2006/relationships/notesSlide" Target="/ppt/notesSlides/notesSlide6.xml" Id="R9aeae1e9340747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bfdc3d0ea4a27" /><Relationship Type="http://schemas.openxmlformats.org/officeDocument/2006/relationships/notesSlide" Target="/ppt/notesSlides/notesSlide7.xml" Id="Rd5023a4e8ba143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0b8c6aff54e08" /><Relationship Type="http://schemas.openxmlformats.org/officeDocument/2006/relationships/notesSlide" Target="/ppt/notesSlides/notesSlide8.xml" Id="R2fcaddef9fa34c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20d5c4f2c4820" /><Relationship Type="http://schemas.openxmlformats.org/officeDocument/2006/relationships/notesSlide" Target="/ppt/notesSlides/notesSlide9.xml" Id="Rb0d0f5cd80a845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740CB-93B7-4C8F-BD4E-FD5A6D40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A3368-A480-43D2-A518-D7504C37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27FE7-C6A1-4CD5-9B7D-53C6D48C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IN-DEVELOPMENT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930FA-4E45-4F6D-B7FB-9B1C7D29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4212B"/>
                </a:solidFill>
              </a:defRPr>
            </a:pPr>
            <a:r>
              <a:rPr sz="4350" b="1">
                <a:solidFill>
                  <a:srgbClr val="14212B"/>
                </a:solidFill>
              </a:rPr>
              <a:t>PHP 기반 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C9025-8A90-4624-B681-900F1847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2B"/>
                </a:solidFill>
              </a:defRPr>
            </a:pPr>
            <a:r>
              <a:rPr sz="3000" b="1">
                <a:solidFill>
                  <a:srgbClr val="14212B"/>
                </a:solidFill>
              </a:rPr>
              <a:t>제조 · 업무공유 · 고객 A/S</a:t>
            </a:r>
          </a:p>
          <a:p xmlns:a="http://schemas.openxmlformats.org/drawingml/2006/main">
            <a:pPr algn="l">
              <a:defRPr sz="3000" b="1">
                <a:solidFill>
                  <a:srgbClr val="14212B"/>
                </a:solidFill>
              </a:defRPr>
            </a:pPr>
            <a:r>
              <a:rPr sz="3000" b="1">
                <a:solidFill>
                  <a:srgbClr val="14212B"/>
                </a:solidFill>
              </a:rPr>
              <a:t>통합 관리 플랫폼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598F3-004A-4182-9297-087437A6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</a:defRPr>
            </a:pPr>
            <a:r>
              <a:rPr sz="1650" b="1">
                <a:solidFill>
                  <a:srgbClr val="14212B"/>
                </a:solidFill>
              </a:rPr>
              <a:t>양호용  |  202121639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66677-91BA-41EA-8BAD-D2841A10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2"/>
                </a:solidFill>
              </a:defRPr>
            </a:pPr>
            <a:r>
              <a:rPr sz="1350" b="0">
                <a:solidFill>
                  <a:srgbClr val="5B6872"/>
                </a:solidFill>
              </a:rPr>
              <a:t>PHP · MySQL · Bootstrap · 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0AD49-E858-4EB8-ACA2-7C749182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38820-6341-4719-862F-47E93799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WEB · A/S</a:t>
            </a:r>
          </a:p>
        </p:txBody>
      </p:sp>
    </p:spTree>
    <p:extLst>
      <p:ext uri="{BB962C8B-B14F-4D97-AF65-F5344CB8AC3E}">
        <p14:creationId xmlns:p14="http://schemas.microsoft.com/office/powerpoint/2010/main" val="20261385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1FBBE-53B1-423C-A902-265DC692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MES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BA90E-7B5D-448F-9F66-4F4138F9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2B"/>
                </a:solidFill>
              </a:defRPr>
            </a:pPr>
            <a:r>
              <a:rPr sz="2850" b="1">
                <a:solidFill>
                  <a:srgbClr val="14212B"/>
                </a:solidFill>
              </a:rPr>
              <a:t>흩어진 제조 정보와 협업 기록을 하나의 흐름으로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188C0-796B-4BF9-8291-F6662A9B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9F6A8-E318-4A27-8039-104EFB5D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프로젝트 목적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C5372-1369-482E-B755-3D0C2463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2B"/>
                </a:solidFill>
              </a:defRPr>
            </a:pPr>
            <a:r>
              <a:rPr sz="2250" b="1">
                <a:solidFill>
                  <a:srgbClr val="14212B"/>
                </a:solidFill>
              </a:rPr>
              <a:t>생산·재고·시리얼 번호뿐 아니라</a:t>
            </a:r>
          </a:p>
          <a:p xmlns:a="http://schemas.openxmlformats.org/drawingml/2006/main">
            <a:pPr algn="l">
              <a:defRPr sz="2250" b="1">
                <a:solidFill>
                  <a:srgbClr val="14212B"/>
                </a:solidFill>
              </a:defRPr>
            </a:pPr>
            <a:r>
              <a:rPr sz="2250" b="1">
                <a:solidFill>
                  <a:srgbClr val="14212B"/>
                </a:solidFill>
              </a:rPr>
              <a:t>업무 공유와 고객 A/S까지</a:t>
            </a:r>
          </a:p>
          <a:p xmlns:a="http://schemas.openxmlformats.org/drawingml/2006/main">
            <a:pPr algn="l">
              <a:defRPr sz="2250" b="1">
                <a:solidFill>
                  <a:srgbClr val="14212B"/>
                </a:solidFill>
              </a:defRPr>
            </a:pPr>
            <a:r>
              <a:rPr sz="2250" b="1">
                <a:solidFill>
                  <a:srgbClr val="14212B"/>
                </a:solidFill>
              </a:rPr>
              <a:t>웹에서 추적하는 통합 플랫폼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0A615-119A-496D-9F85-E155E57C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0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3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2F771-8879-4EA3-8A85-2D699D19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FF"/>
                </a:solidFill>
              </a:defRPr>
            </a:pPr>
            <a:r>
              <a:rPr sz="1275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0D3D1-0AB7-4E65-BD0D-6CB3A81E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2B"/>
                </a:solidFill>
              </a:defRPr>
            </a:pPr>
            <a:r>
              <a:rPr sz="2025" b="1">
                <a:solidFill>
                  <a:srgbClr val="14212B"/>
                </a:solidFill>
              </a:rPr>
              <a:t>제조 이력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0AC98-7EF1-4870-9475-23E23A0B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479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2"/>
                </a:solidFill>
              </a:defRPr>
            </a:pPr>
            <a:r>
              <a:rPr sz="1500" b="0">
                <a:solidFill>
                  <a:srgbClr val="5B6872"/>
                </a:solidFill>
              </a:rPr>
              <a:t>제품·부품·BOM·창고·생산</a:t>
            </a:r>
          </a:p>
          <a:p xmlns:a="http://schemas.openxmlformats.org/drawingml/2006/main">
            <a:pPr algn="l">
              <a:defRPr sz="1500" b="0">
                <a:solidFill>
                  <a:srgbClr val="5B6872"/>
                </a:solidFill>
              </a:defRPr>
            </a:pPr>
            <a:r>
              <a:rPr sz="1500" b="0">
                <a:solidFill>
                  <a:srgbClr val="5B6872"/>
                </a:solidFill>
              </a:rPr>
              <a:t>시리얼 번호 단위 추적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E6A56-9D5D-44AC-A20B-529311CA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FF"/>
                </a:solidFill>
              </a:defRPr>
            </a:pPr>
            <a:r>
              <a:rPr sz="1275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5E0B1-7BC8-4772-A113-9CBD2BA4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62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2B"/>
                </a:solidFill>
              </a:defRPr>
            </a:pPr>
            <a:r>
              <a:rPr sz="2025" b="1">
                <a:solidFill>
                  <a:srgbClr val="14212B"/>
                </a:solidFill>
              </a:rPr>
              <a:t>업무 공유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CA933-DB88-4292-B9D4-AEED21A3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004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2"/>
                </a:solidFill>
              </a:defRPr>
            </a:pPr>
            <a:r>
              <a:rPr sz="1500" b="0">
                <a:solidFill>
                  <a:srgbClr val="5B6872"/>
                </a:solidFill>
              </a:rPr>
              <a:t>MAIN/SUB 업무와 주간보고</a:t>
            </a:r>
          </a:p>
          <a:p xmlns:a="http://schemas.openxmlformats.org/drawingml/2006/main">
            <a:pPr algn="l">
              <a:defRPr sz="1500" b="0">
                <a:solidFill>
                  <a:srgbClr val="5B6872"/>
                </a:solidFill>
              </a:defRPr>
            </a:pPr>
            <a:r>
              <a:rPr sz="1500" b="0">
                <a:solidFill>
                  <a:srgbClr val="5B6872"/>
                </a:solidFill>
              </a:rPr>
              <a:t>담당자·상태·첨부파일 관리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9BD83-F8CC-47FB-9578-B51B0EC4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FF"/>
                </a:solidFill>
              </a:defRPr>
            </a:pPr>
            <a:r>
              <a:rPr sz="1275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58DB4-A99D-458A-B1F8-421BA217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14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2B"/>
                </a:solidFill>
              </a:defRPr>
            </a:pPr>
            <a:r>
              <a:rPr sz="2025" b="1">
                <a:solidFill>
                  <a:srgbClr val="14212B"/>
                </a:solidFill>
              </a:rPr>
              <a:t>고객 대응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DF60F-53D3-4A5E-8344-DC91849A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530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2"/>
                </a:solidFill>
              </a:defRPr>
            </a:pPr>
            <a:r>
              <a:rPr sz="1500" b="0">
                <a:solidFill>
                  <a:srgbClr val="5B6872"/>
                </a:solidFill>
              </a:rPr>
              <a:t>고객·판매·A/S 기록을</a:t>
            </a:r>
          </a:p>
          <a:p xmlns:a="http://schemas.openxmlformats.org/drawingml/2006/main">
            <a:pPr algn="l">
              <a:defRPr sz="1500" b="0">
                <a:solidFill>
                  <a:srgbClr val="5B6872"/>
                </a:solidFill>
              </a:defRPr>
            </a:pPr>
            <a:r>
              <a:rPr sz="1500" b="0">
                <a:solidFill>
                  <a:srgbClr val="5B6872"/>
                </a:solidFill>
              </a:rPr>
              <a:t>제품 이력과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C90CA-F07F-4523-BA8F-853C246B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2"/>
                </a:solidFill>
              </a:defRPr>
            </a:pPr>
            <a:r>
              <a:rPr sz="900" b="0">
                <a:solidFill>
                  <a:srgbClr val="5B68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3054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DF9ED7-9494-4465-B727-534227F4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MES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8DF27-4254-4F22-A5D6-E8B8F2BF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2B"/>
                </a:solidFill>
              </a:defRPr>
            </a:pPr>
            <a:r>
              <a:rPr sz="2850" b="1">
                <a:solidFill>
                  <a:srgbClr val="14212B"/>
                </a:solidFill>
              </a:rPr>
              <a:t>브라우저–PHP–MySQL로 구성한 모듈형 웹 시스템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773F5-D955-4FC2-AF1D-24482749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7B011-D16A-4334-A2FC-EBA54B02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FA462-89E2-4C9D-862E-D97C35D2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765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77FF"/>
                </a:solidFill>
              </a:defRPr>
            </a:pPr>
            <a:r>
              <a:rPr sz="225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E88D6-59A6-46C8-B03B-D5213B98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CE116-D3DE-4D0A-89B7-6F923FE5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765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77FF"/>
                </a:solidFill>
              </a:defRPr>
            </a:pPr>
            <a:r>
              <a:rPr sz="225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9F1A5-FC46-4313-92DD-4C36FC92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204F9-0541-4C4F-9C20-DAAE5F6E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765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77FF"/>
                </a:solidFill>
              </a:defRPr>
            </a:pPr>
            <a:r>
              <a:rPr sz="225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E4059-0359-4C63-B284-2CA2580A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095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572D8-760F-4764-906B-8C56F36B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5900C-2C4E-49B3-8832-A268FEE7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2B"/>
                </a:solidFill>
              </a:defRPr>
            </a:pPr>
            <a:r>
              <a:rPr sz="1800" b="1">
                <a:solidFill>
                  <a:srgbClr val="14212B"/>
                </a:solidFill>
              </a:rPr>
              <a:t>사용자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6DA5E-3B84-4664-B838-2C1EFD25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872"/>
                </a:solidFill>
              </a:defRPr>
            </a:pPr>
            <a:r>
              <a:rPr sz="1350" b="0">
                <a:solidFill>
                  <a:srgbClr val="5B6872"/>
                </a:solidFill>
              </a:rPr>
              <a:t>관리자·담당자</a:t>
            </a:r>
          </a:p>
          <a:p xmlns:a="http://schemas.openxmlformats.org/drawingml/2006/main">
            <a:pPr algn="ctr">
              <a:defRPr sz="1350" b="0">
                <a:solidFill>
                  <a:srgbClr val="5B6872"/>
                </a:solidFill>
              </a:defRPr>
            </a:pPr>
            <a:r>
              <a:rPr sz="1350" b="0">
                <a:solidFill>
                  <a:srgbClr val="5B6872"/>
                </a:solidFill>
              </a:rPr>
              <a:t>브라우저 접속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7DD98-FEED-4BFA-8713-845BC1B6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47900"/>
            <a:ext cx="2095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8A76F-F32B-4A43-AFF9-32482DC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193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B9A29-338F-4107-B02D-008415E3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2B"/>
                </a:solidFill>
              </a:defRPr>
            </a:pPr>
            <a:r>
              <a:rPr sz="1800" b="1">
                <a:solidFill>
                  <a:srgbClr val="14212B"/>
                </a:solidFill>
              </a:rPr>
              <a:t>웹 애플리케이션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DC623-2586-41A2-8382-AA24D230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480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872"/>
                </a:solidFill>
              </a:defRPr>
            </a:pPr>
            <a:r>
              <a:rPr sz="1350" b="0">
                <a:solidFill>
                  <a:srgbClr val="5B6872"/>
                </a:solidFill>
              </a:rPr>
              <a:t>PHP · Bootstrap 5</a:t>
            </a:r>
          </a:p>
          <a:p xmlns:a="http://schemas.openxmlformats.org/drawingml/2006/main">
            <a:pPr algn="ctr">
              <a:defRPr sz="1350" b="0">
                <a:solidFill>
                  <a:srgbClr val="5B6872"/>
                </a:solidFill>
              </a:defRPr>
            </a:pPr>
            <a:r>
              <a:rPr sz="1350" b="0">
                <a:solidFill>
                  <a:srgbClr val="5B6872"/>
                </a:solidFill>
              </a:rPr>
              <a:t>Session · Fetch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72D05-FB90-4584-9709-8FEB76EB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2095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89374-9627-4A8A-BF57-EA85570D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193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E128B-0DDC-4CBD-A895-03BA5697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2B"/>
                </a:solidFill>
              </a:defRPr>
            </a:pPr>
            <a:r>
              <a:rPr sz="1800" b="1">
                <a:solidFill>
                  <a:srgbClr val="14212B"/>
                </a:solidFill>
              </a:rPr>
              <a:t>데이터 계층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34D4A-936C-42D6-9460-5410E06A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872"/>
                </a:solidFill>
              </a:defRPr>
            </a:pPr>
            <a:r>
              <a:rPr sz="1350" b="0">
                <a:solidFill>
                  <a:srgbClr val="5B6872"/>
                </a:solidFill>
              </a:rPr>
              <a:t>PDO · MySQL</a:t>
            </a:r>
          </a:p>
          <a:p xmlns:a="http://schemas.openxmlformats.org/drawingml/2006/main">
            <a:pPr algn="ctr">
              <a:defRPr sz="1350" b="0">
                <a:solidFill>
                  <a:srgbClr val="5B6872"/>
                </a:solidFill>
              </a:defRPr>
            </a:pPr>
            <a:r>
              <a:rPr sz="1350" b="0">
                <a:solidFill>
                  <a:srgbClr val="5B6872"/>
                </a:solidFill>
              </a:rPr>
              <a:t>Prepared Statement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A3159-9D44-474B-B769-5936D610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47900"/>
            <a:ext cx="2095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C1C9D-A3A5-4B5F-ADF6-8E39812C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193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42DB61-8A52-4C85-97B0-5614147F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2B"/>
                </a:solidFill>
              </a:defRPr>
            </a:pPr>
            <a:r>
              <a:rPr sz="1800" b="1">
                <a:solidFill>
                  <a:srgbClr val="14212B"/>
                </a:solidFill>
              </a:rPr>
              <a:t>협업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398E5-48FA-4F6A-80DD-0D5F293F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872"/>
                </a:solidFill>
              </a:defRPr>
            </a:pPr>
            <a:r>
              <a:rPr sz="1350" b="0">
                <a:solidFill>
                  <a:srgbClr val="5B6872"/>
                </a:solidFill>
              </a:rPr>
              <a:t>Git으로 기능 변경과</a:t>
            </a:r>
          </a:p>
          <a:p xmlns:a="http://schemas.openxmlformats.org/drawingml/2006/main">
            <a:pPr algn="ctr">
              <a:defRPr sz="1350" b="0">
                <a:solidFill>
                  <a:srgbClr val="5B6872"/>
                </a:solidFill>
              </a:defRPr>
            </a:pPr>
            <a:r>
              <a:rPr sz="1350" b="0">
                <a:solidFill>
                  <a:srgbClr val="5B6872"/>
                </a:solidFill>
              </a:rPr>
              <a:t>통합 과정 관리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4F1FB2-FDCC-4D08-AA05-C44B57BF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2B"/>
                </a:solidFill>
              </a:defRPr>
            </a:pPr>
            <a:r>
              <a:rPr sz="1575" b="1">
                <a:solidFill>
                  <a:srgbClr val="14212B"/>
                </a:solidFill>
              </a:rPr>
              <a:t>약 40개 테이블: 사용자·권한 / 품목·BOM / 재고·시리얼 / 프로젝트·업무 / 보고·A/S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1DD0C1-C7C6-49BF-B34B-62C19BEA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2"/>
                </a:solidFill>
              </a:defRPr>
            </a:pPr>
            <a:r>
              <a:rPr sz="900" b="0">
                <a:solidFill>
                  <a:srgbClr val="5B68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64300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2CFFD-EFBC-46DD-BAE6-987B55BA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MES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19538-0155-4D3F-824A-9B9699DA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2B"/>
                </a:solidFill>
              </a:defRPr>
            </a:pPr>
            <a:r>
              <a:rPr sz="2850" b="1">
                <a:solidFill>
                  <a:srgbClr val="14212B"/>
                </a:solidFill>
              </a:rPr>
              <a:t>역할은 확인된 범위만 구분해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D3289-F41B-4713-ADA8-065636E4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48596-D516-4DF2-BF54-CF5C05F1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98C9C-D12A-4322-B9C3-6E6E582A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</a:defRPr>
            </a:pPr>
            <a:r>
              <a:rPr sz="1125" b="1">
                <a:solidFill>
                  <a:srgbClr val="1677FF"/>
                </a:solidFill>
              </a:rPr>
              <a:t>사수 주도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8EACC-6FA9-4F91-9833-F2C91185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</a:defRPr>
            </a:pPr>
            <a:r>
              <a:rPr sz="2100" b="1">
                <a:solidFill>
                  <a:srgbClr val="14212B"/>
                </a:solidFill>
              </a:rPr>
              <a:t>제조 도메인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EBEC7-921B-435F-BE61-CFAD42B9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686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72"/>
                </a:solidFill>
              </a:defRPr>
            </a:pPr>
            <a:r>
              <a:rPr sz="1575" b="0">
                <a:solidFill>
                  <a:srgbClr val="5B6872"/>
                </a:solidFill>
              </a:rPr>
              <a:t>공장 납품 프로세스</a:t>
            </a:r>
          </a:p>
          <a:p xmlns:a="http://schemas.openxmlformats.org/drawingml/2006/main">
            <a:pPr algn="l">
              <a:defRPr sz="1575" b="0">
                <a:solidFill>
                  <a:srgbClr val="5B6872"/>
                </a:solidFill>
              </a:defRPr>
            </a:pPr>
            <a:r>
              <a:rPr sz="1575" b="0">
                <a:solidFill>
                  <a:srgbClr val="5B6872"/>
                </a:solidFill>
              </a:rPr>
              <a:t>시리얼 번호 체계</a:t>
            </a:r>
          </a:p>
          <a:p xmlns:a="http://schemas.openxmlformats.org/drawingml/2006/main">
            <a:pPr algn="l">
              <a:defRPr sz="1575" b="0">
                <a:solidFill>
                  <a:srgbClr val="5B6872"/>
                </a:solidFill>
              </a:defRPr>
            </a:pPr>
            <a:r>
              <a:rPr sz="1575" b="0">
                <a:solidFill>
                  <a:srgbClr val="5B6872"/>
                </a:solidFill>
              </a:rPr>
              <a:t>생산·재고 업무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FBF06-E961-490F-ABA4-506DDC65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4785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E1B1A-066A-4112-98B3-951F350B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</a:defRPr>
            </a:pPr>
            <a:r>
              <a:rPr sz="1125" b="1">
                <a:solidFill>
                  <a:srgbClr val="1677FF"/>
                </a:solidFill>
              </a:rPr>
              <a:t>양호용 중심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A04AF-0291-4993-A2F4-172FCB3F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</a:defRPr>
            </a:pPr>
            <a:r>
              <a:rPr sz="2100" b="1">
                <a:solidFill>
                  <a:srgbClr val="14212B"/>
                </a:solidFill>
              </a:rPr>
              <a:t>업무공유 · 고객 A/S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3C7C3-64FD-4284-AFA9-9335C462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90900"/>
            <a:ext cx="2686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72"/>
                </a:solidFill>
              </a:defRPr>
            </a:pPr>
            <a:r>
              <a:rPr sz="1575" b="0">
                <a:solidFill>
                  <a:srgbClr val="5B6872"/>
                </a:solidFill>
              </a:rPr>
              <a:t>MAIN/SUB 업무 흐름</a:t>
            </a:r>
          </a:p>
          <a:p xmlns:a="http://schemas.openxmlformats.org/drawingml/2006/main">
            <a:pPr algn="l">
              <a:defRPr sz="1575" b="0">
                <a:solidFill>
                  <a:srgbClr val="5B6872"/>
                </a:solidFill>
              </a:defRPr>
            </a:pPr>
            <a:r>
              <a:rPr sz="1575" b="0">
                <a:solidFill>
                  <a:srgbClr val="5B6872"/>
                </a:solidFill>
              </a:rPr>
              <a:t>주간보고 연결</a:t>
            </a:r>
          </a:p>
          <a:p xmlns:a="http://schemas.openxmlformats.org/drawingml/2006/main">
            <a:pPr algn="l">
              <a:defRPr sz="1575" b="0">
                <a:solidFill>
                  <a:srgbClr val="5B6872"/>
                </a:solidFill>
              </a:defRPr>
            </a:pPr>
            <a:r>
              <a:rPr sz="1575" b="0">
                <a:solidFill>
                  <a:srgbClr val="5B6872"/>
                </a:solidFill>
              </a:rPr>
              <a:t>고객 대응·A/S 프로세스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6738B-479F-4ECD-A34C-12FAC556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EDDB7-CE93-4190-ABC2-76166577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B3D"/>
                </a:solidFill>
              </a:defRPr>
            </a:pPr>
            <a:r>
              <a:rPr sz="1125" b="1">
                <a:solidFill>
                  <a:srgbClr val="FF8B3D"/>
                </a:solidFill>
              </a:rPr>
              <a:t>공동 개발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FA0C8-308D-4F67-8F0F-5D8B8CB5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</a:defRPr>
            </a:pPr>
            <a:r>
              <a:rPr sz="2100" b="1">
                <a:solidFill>
                  <a:srgbClr val="14212B"/>
                </a:solidFill>
              </a:rPr>
              <a:t>프로젝트 관리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75879-A071-4AB9-834A-8A433E1C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2686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72"/>
                </a:solidFill>
              </a:defRPr>
            </a:pPr>
            <a:r>
              <a:rPr sz="1575" b="0">
                <a:solidFill>
                  <a:srgbClr val="5B6872"/>
                </a:solidFill>
              </a:rPr>
              <a:t>칸반 보드·진척도</a:t>
            </a:r>
          </a:p>
          <a:p xmlns:a="http://schemas.openxmlformats.org/drawingml/2006/main">
            <a:pPr algn="l">
              <a:defRPr sz="1575" b="0">
                <a:solidFill>
                  <a:srgbClr val="5B6872"/>
                </a:solidFill>
              </a:defRPr>
            </a:pPr>
            <a:r>
              <a:rPr sz="1575" b="0">
                <a:solidFill>
                  <a:srgbClr val="5B6872"/>
                </a:solidFill>
              </a:rPr>
              <a:t>기능 우선순위 협의</a:t>
            </a:r>
          </a:p>
          <a:p xmlns:a="http://schemas.openxmlformats.org/drawingml/2006/main">
            <a:pPr algn="l">
              <a:defRPr sz="1575" b="0">
                <a:solidFill>
                  <a:srgbClr val="5B6872"/>
                </a:solidFill>
              </a:defRPr>
            </a:pPr>
            <a:r>
              <a:rPr sz="1575" b="0">
                <a:solidFill>
                  <a:srgbClr val="5B6872"/>
                </a:solidFill>
              </a:rPr>
              <a:t>Git 기반 통합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9262A-8BDA-4FE3-8249-4A4CCF85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872"/>
                </a:solidFill>
              </a:defRPr>
            </a:pPr>
            <a:r>
              <a:rPr sz="1200" b="0">
                <a:solidFill>
                  <a:srgbClr val="5B6872"/>
                </a:solidFill>
              </a:rPr>
              <a:t>코드에 작성자 표기가 없어 개별 파일의 단독 소유권은 주장하지 않습니다.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EF5FB-9EDA-49A8-BF6C-27599289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2"/>
                </a:solidFill>
              </a:defRPr>
            </a:pPr>
            <a:r>
              <a:rPr sz="900" b="0">
                <a:solidFill>
                  <a:srgbClr val="5B68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9923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93CA78-1C5C-4730-912B-959F2E01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MES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B9E1B-1AE3-415A-B66C-2697E80D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2B"/>
                </a:solidFill>
              </a:defRPr>
            </a:pPr>
            <a:r>
              <a:rPr sz="2850" b="1">
                <a:solidFill>
                  <a:srgbClr val="14212B"/>
                </a:solidFill>
              </a:rPr>
              <a:t>업무 등록에서 주간보고까지 이어지는 협업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F4BDB-420C-452E-B091-049C47D0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BEA0A-CD5D-459F-B5EE-D0B7ABD7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889AE-950B-4D6B-897A-701D11A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622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</a:defRPr>
            </a:pPr>
            <a:r>
              <a:rPr sz="21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9AB1E-DBFC-4E87-BBBA-F22BFC31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AB807-C1C2-4BEC-9093-538EA317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</a:defRPr>
            </a:pPr>
            <a:r>
              <a:rPr sz="21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CA4B9-CDD1-46CF-A9A2-8A2F7A16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480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DEEED-2794-46AD-992B-6DDF994F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622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</a:defRPr>
            </a:pPr>
            <a:r>
              <a:rPr sz="21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7EF18-CF19-4B11-BBA7-F65D66B9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480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00349-F4FA-46E8-8211-DF5AE41B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622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</a:defRPr>
            </a:pPr>
            <a:r>
              <a:rPr sz="2100" b="1">
                <a:solidFill>
                  <a:srgbClr val="1677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0609E-E00B-48CA-85CE-8DA98070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7716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B8143-12A8-4EE5-8609-00D860DA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DEC71-FB0A-4141-8B38-7AA543A5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2B"/>
                </a:solidFill>
              </a:defRPr>
            </a:pPr>
            <a:r>
              <a:rPr sz="1500" b="1">
                <a:solidFill>
                  <a:srgbClr val="14212B"/>
                </a:solidFill>
              </a:rPr>
              <a:t>MAIN 업무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C7B99-D1A2-47A3-914B-484787F6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24100"/>
            <a:ext cx="17716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F87BC-8D4A-4878-AC21-7676DF86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76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1C9BE-91EC-4D64-A787-F345EB88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7180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2B"/>
                </a:solidFill>
              </a:defRPr>
            </a:pPr>
            <a:r>
              <a:rPr sz="1500" b="1">
                <a:solidFill>
                  <a:srgbClr val="14212B"/>
                </a:solidFill>
              </a:rPr>
              <a:t>SUB 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FD479-439D-46D2-89CC-A971CB6E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24100"/>
            <a:ext cx="17716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6647A-0D8A-4DEE-ACB8-2BE6277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76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F6E41-96C2-43E0-B3CF-ECCF2FC5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7180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2B"/>
                </a:solidFill>
              </a:defRPr>
            </a:pPr>
            <a:r>
              <a:rPr sz="1500" b="1">
                <a:solidFill>
                  <a:srgbClr val="14212B"/>
                </a:solidFill>
              </a:rPr>
              <a:t>상태·진척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8577F-FD17-4A59-AC6A-B23DCFD8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24100"/>
            <a:ext cx="17716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85AA3-8754-4078-BCB8-ECCE145E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76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6C4AD-184B-459F-9164-C2B25E8F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7180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2B"/>
                </a:solidFill>
              </a:defRPr>
            </a:pPr>
            <a:r>
              <a:rPr sz="1500" b="1">
                <a:solidFill>
                  <a:srgbClr val="14212B"/>
                </a:solidFill>
              </a:rPr>
              <a:t>댓글·파일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0D9FEF-2C18-430C-A974-2A4D91F9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24100"/>
            <a:ext cx="17716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36CD1-A99F-4AB5-B07B-674CDC9A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76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C8BAE-97C3-482E-A5D0-380072C8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7180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2B"/>
                </a:solidFill>
              </a:defRPr>
            </a:pPr>
            <a:r>
              <a:rPr sz="1500" b="1">
                <a:solidFill>
                  <a:srgbClr val="14212B"/>
                </a:solidFill>
              </a:rPr>
              <a:t>주간보고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015724-DAA9-40C7-A837-B65B9BF5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</a:defRPr>
            </a:pPr>
            <a:r>
              <a:rPr sz="1200" b="1">
                <a:solidFill>
                  <a:srgbClr val="1677FF"/>
                </a:solidFill>
              </a:rPr>
              <a:t>제가 집중한 부분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0E1B7F-127F-42B8-A560-C950084C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2B"/>
                </a:solidFill>
              </a:defRPr>
            </a:pPr>
            <a:r>
              <a:rPr sz="1875" b="1">
                <a:solidFill>
                  <a:srgbClr val="14212B"/>
                </a:solidFill>
              </a:rPr>
              <a:t>업무가 등록에서 끝나지 않고 실제 협업과 보고로 이어지도록 사용자 흐름을 설계·개선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58271-4C7F-491D-954A-09AFCF36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2"/>
                </a:solidFill>
              </a:defRPr>
            </a:pPr>
            <a:r>
              <a:rPr sz="900" b="0">
                <a:solidFill>
                  <a:srgbClr val="5B68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4374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63AD04-2C15-4C16-BB6D-F836C6C3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MES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FD63D-DED2-4CC4-ACFF-5614FD90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2B"/>
                </a:solidFill>
              </a:defRPr>
            </a:pPr>
            <a:r>
              <a:rPr sz="2850" b="1">
                <a:solidFill>
                  <a:srgbClr val="14212B"/>
                </a:solidFill>
              </a:rPr>
              <a:t>고객 A/S를 제품 이력과 연결하는 추적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EE67B-425F-416C-A31E-08117EF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ADB79-9A06-4271-92FF-DD06E3B2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432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8B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7D911-FF34-42FB-A5CB-A76B4B78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575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8B3D"/>
                </a:solidFill>
              </a:defRPr>
            </a:pPr>
            <a:r>
              <a:rPr sz="2325" b="1">
                <a:solidFill>
                  <a:srgbClr val="FF8B3D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7AA78-04A2-42AA-B46B-E4D1220D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432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8B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99B49-4922-42D3-AFBF-E3D01D49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8B3D"/>
                </a:solidFill>
              </a:defRPr>
            </a:pPr>
            <a:r>
              <a:rPr sz="2325" b="1">
                <a:solidFill>
                  <a:srgbClr val="FF8B3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756C0-40CD-4ECD-8713-E70E3BCD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8B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912C9-3854-44E7-8F38-117669A3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8B3D"/>
                </a:solidFill>
              </a:defRPr>
            </a:pPr>
            <a:r>
              <a:rPr sz="2325" b="1">
                <a:solidFill>
                  <a:srgbClr val="FF8B3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DD621-FB14-4D4D-A895-D37BA87C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1717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E16A0-0F33-4C90-9550-5C0B564D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B3D"/>
                </a:solidFill>
              </a:defRPr>
            </a:pPr>
            <a:r>
              <a:rPr sz="1050" b="1">
                <a:solidFill>
                  <a:srgbClr val="FF8B3D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8A5F7-B003-4B8C-81F2-C7648F7B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12B"/>
                </a:solidFill>
              </a:defRPr>
            </a:pPr>
            <a:r>
              <a:rPr sz="1725" b="1">
                <a:solidFill>
                  <a:srgbClr val="14212B"/>
                </a:solidFill>
              </a:rPr>
              <a:t>고객·판매 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67D97-7512-4989-9039-84B42049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21717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C92B3-2447-4CA6-A202-B6D71BDE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B3D"/>
                </a:solidFill>
              </a:defRPr>
            </a:pPr>
            <a:r>
              <a:rPr sz="1050" b="1">
                <a:solidFill>
                  <a:srgbClr val="FF8B3D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A772B-820C-48B0-A019-64E4B6B9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12B"/>
                </a:solidFill>
              </a:defRPr>
            </a:pPr>
            <a:r>
              <a:rPr sz="1725" b="1">
                <a:solidFill>
                  <a:srgbClr val="14212B"/>
                </a:solidFill>
              </a:rPr>
              <a:t>시리얼 번호 조회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52E62-A0A2-498B-99DF-9656DE5B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1717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EF4440-1DF7-4779-BC09-6E5C2008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B3D"/>
                </a:solidFill>
              </a:defRPr>
            </a:pPr>
            <a:r>
              <a:rPr sz="1050" b="1">
                <a:solidFill>
                  <a:srgbClr val="FF8B3D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64FD6-B649-4EC2-BC0C-22AFB548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12B"/>
                </a:solidFill>
              </a:defRPr>
            </a:pPr>
            <a:r>
              <a:rPr sz="1725" b="1">
                <a:solidFill>
                  <a:srgbClr val="14212B"/>
                </a:solidFill>
              </a:rPr>
              <a:t>A/S 접수·상태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6077D-C414-4788-A4BA-A7BF864F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1717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0E4BB6-146F-4961-931D-39221871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B3D"/>
                </a:solidFill>
              </a:defRPr>
            </a:pPr>
            <a:r>
              <a:rPr sz="1050" b="1">
                <a:solidFill>
                  <a:srgbClr val="FF8B3D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D1F2F-5D78-4511-8E04-F6333EB3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99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12B"/>
                </a:solidFill>
              </a:defRPr>
            </a:pPr>
            <a:r>
              <a:rPr sz="1725" b="1">
                <a:solidFill>
                  <a:srgbClr val="14212B"/>
                </a:solidFill>
              </a:rPr>
              <a:t>처리 이력 공유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572FF-9E88-4924-AF2A-A93FBC84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12B"/>
                </a:solidFill>
              </a:defRPr>
            </a:pPr>
            <a:r>
              <a:rPr sz="1875" b="1">
                <a:solidFill>
                  <a:srgbClr val="14212B"/>
                </a:solidFill>
              </a:rPr>
              <a:t>목표: 문의가 들어왔을 때 고객·제품·처리 내역을 빠르게 찾아 대응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CD193-A495-4B13-AC41-07C1D4CF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872"/>
                </a:solidFill>
              </a:defRPr>
            </a:pPr>
            <a:r>
              <a:rPr sz="1350" b="0">
                <a:solidFill>
                  <a:srgbClr val="5B6872"/>
                </a:solidFill>
              </a:rPr>
              <a:t>현재 개발 중이며 운영 피드백에 따라 입력 항목과 상태 흐름을 조정 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E21A42-4126-4247-8AC7-FF63D53D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2"/>
                </a:solidFill>
              </a:defRPr>
            </a:pPr>
            <a:r>
              <a:rPr sz="900" b="0">
                <a:solidFill>
                  <a:srgbClr val="5B68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24049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7DB50-111E-46AF-A5FE-1D719836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MES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5AA9C-3255-412A-A2B9-9BA219BD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2B"/>
                </a:solidFill>
              </a:defRPr>
            </a:pPr>
            <a:r>
              <a:rPr sz="2850" b="1">
                <a:solidFill>
                  <a:srgbClr val="14212B"/>
                </a:solidFill>
              </a:rPr>
              <a:t>데이터 정합성과 기본 보안을 고려한 백엔드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A1B11-71EA-4FF8-B667-AC0F134B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647EF-1BA1-4058-8420-9CA69F6F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AAA58-5EF6-4137-90E5-FE7BF1EB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342E9-2CD8-4DDD-A2F4-0B5D9D4C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2B"/>
                </a:solidFill>
              </a:defRPr>
            </a:pPr>
            <a:r>
              <a:rPr sz="1950" b="1">
                <a:solidFill>
                  <a:srgbClr val="14212B"/>
                </a:solidFill>
              </a:rPr>
              <a:t>SQL 안전성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C5430-993D-45D3-A5FB-BC2B19FB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2"/>
                </a:solidFill>
              </a:defRPr>
            </a:pPr>
            <a:r>
              <a:rPr sz="1425" b="0">
                <a:solidFill>
                  <a:srgbClr val="5B6872"/>
                </a:solidFill>
              </a:rPr>
              <a:t>PDO Prepared</a:t>
            </a:r>
          </a:p>
          <a:p xmlns:a="http://schemas.openxmlformats.org/drawingml/2006/main">
            <a:pPr algn="l">
              <a:defRPr sz="1425" b="0">
                <a:solidFill>
                  <a:srgbClr val="5B6872"/>
                </a:solidFill>
              </a:defRPr>
            </a:pPr>
            <a:r>
              <a:rPr sz="1425" b="0">
                <a:solidFill>
                  <a:srgbClr val="5B6872"/>
                </a:solidFill>
              </a:rPr>
              <a:t>Statement 적용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0FA37-8864-4C51-A318-68041713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85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48D0A-547C-4861-AB2C-966E7392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3F57B-D77E-405E-B2F4-1AF2A1B3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336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2B"/>
                </a:solidFill>
              </a:defRPr>
            </a:pPr>
            <a:r>
              <a:rPr sz="1950" b="1">
                <a:solidFill>
                  <a:srgbClr val="14212B"/>
                </a:solidFill>
              </a:rPr>
              <a:t>인증·세션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421F6-6D1F-420F-9581-46C590FE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2"/>
                </a:solidFill>
              </a:defRPr>
            </a:pPr>
            <a:r>
              <a:rPr sz="1425" b="0">
                <a:solidFill>
                  <a:srgbClr val="5B6872"/>
                </a:solidFill>
              </a:rPr>
              <a:t>password_hash / verify</a:t>
            </a:r>
          </a:p>
          <a:p xmlns:a="http://schemas.openxmlformats.org/drawingml/2006/main">
            <a:pPr algn="l">
              <a:defRPr sz="1425" b="0">
                <a:solidFill>
                  <a:srgbClr val="5B6872"/>
                </a:solidFill>
              </a:defRPr>
            </a:pPr>
            <a:r>
              <a:rPr sz="1425" b="0">
                <a:solidFill>
                  <a:srgbClr val="5B6872"/>
                </a:solidFill>
              </a:rPr>
              <a:t>로그인 CSRF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59B7C-D825-4722-B5F9-AAB4CD51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85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D612E-33A8-46BB-B273-091E007F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EA017-2643-4BF6-A041-DA4485B2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2B"/>
                </a:solidFill>
              </a:defRPr>
            </a:pPr>
            <a:r>
              <a:rPr sz="1950" b="1">
                <a:solidFill>
                  <a:srgbClr val="14212B"/>
                </a:solidFill>
              </a:rPr>
              <a:t>재고 정합성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C8758-C539-47CA-833D-0A59EE2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432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2"/>
                </a:solidFill>
              </a:defRPr>
            </a:pPr>
            <a:r>
              <a:rPr sz="1425" b="0">
                <a:solidFill>
                  <a:srgbClr val="5B6872"/>
                </a:solidFill>
              </a:rPr>
              <a:t>Transaction과</a:t>
            </a:r>
          </a:p>
          <a:p xmlns:a="http://schemas.openxmlformats.org/drawingml/2006/main">
            <a:pPr algn="l">
              <a:defRPr sz="1425" b="0">
                <a:solidFill>
                  <a:srgbClr val="5B6872"/>
                </a:solidFill>
              </a:defRPr>
            </a:pPr>
            <a:r>
              <a:rPr sz="1425" b="0">
                <a:solidFill>
                  <a:srgbClr val="5B6872"/>
                </a:solidFill>
              </a:rPr>
              <a:t>SELECT ... FOR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74D22-45C5-4202-ACA1-1555333F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85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45061-2FC1-49FF-90D7-EBCEA5A2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32FDA-6E7F-4CB0-9C09-6F7DA15F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336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2B"/>
                </a:solidFill>
              </a:defRPr>
            </a:pPr>
            <a:r>
              <a:rPr sz="1950" b="1">
                <a:solidFill>
                  <a:srgbClr val="14212B"/>
                </a:solidFill>
              </a:rPr>
              <a:t>협업 이력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790ED-592E-4435-899E-BEBEA164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2"/>
                </a:solidFill>
              </a:defRPr>
            </a:pPr>
            <a:r>
              <a:rPr sz="1425" b="0">
                <a:solidFill>
                  <a:srgbClr val="5B6872"/>
                </a:solidFill>
              </a:rPr>
              <a:t>Git으로 기능 변경과</a:t>
            </a:r>
          </a:p>
          <a:p xmlns:a="http://schemas.openxmlformats.org/drawingml/2006/main">
            <a:pPr algn="l">
              <a:defRPr sz="1425" b="0">
                <a:solidFill>
                  <a:srgbClr val="5B6872"/>
                </a:solidFill>
              </a:defRPr>
            </a:pPr>
            <a:r>
              <a:rPr sz="1425" b="0">
                <a:solidFill>
                  <a:srgbClr val="5B6872"/>
                </a:solidFill>
              </a:rPr>
              <a:t>통합 과정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D0C0A-6FE4-41F2-A55E-5513115D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6394F4-F3D7-4D12-B766-DBD74DB6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003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제조 동시성 처리 코드는 프로젝트 공통 구현이며 개인 소유권은 별도 주장하지 않습니다.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C4F9F0-0929-450A-BF58-CEB989EE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2"/>
                </a:solidFill>
              </a:defRPr>
            </a:pPr>
            <a:r>
              <a:rPr sz="900" b="0">
                <a:solidFill>
                  <a:srgbClr val="5B68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332735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1EA88-D276-4DB7-BC01-167A88DA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MES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F28B8-C200-4711-80D7-C254F60E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2B"/>
                </a:solidFill>
              </a:defRPr>
            </a:pPr>
            <a:r>
              <a:rPr sz="2850" b="1">
                <a:solidFill>
                  <a:srgbClr val="14212B"/>
                </a:solidFill>
              </a:rPr>
              <a:t>현재는 기능 통합과 현장 흐름 검증을 반복하는 개발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201A6-5FE7-4112-ABC7-8BECE383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CB7D7-B23B-4E69-8B11-CD2B94EA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FF"/>
                </a:solidFill>
              </a:defRPr>
            </a:pPr>
            <a:r>
              <a:rPr sz="1275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55FF9-F3D1-4BF2-B4C8-B4FEDA9F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478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2B"/>
                </a:solidFill>
              </a:defRPr>
            </a:pPr>
            <a:r>
              <a:rPr sz="1875" b="1">
                <a:solidFill>
                  <a:srgbClr val="14212B"/>
                </a:solidFill>
              </a:rPr>
              <a:t>구현 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AE3CC-3033-47A5-8CD1-4FEB8775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478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2"/>
                </a:solidFill>
              </a:defRPr>
            </a:pPr>
            <a:r>
              <a:rPr sz="1425" b="0">
                <a:solidFill>
                  <a:srgbClr val="5B6872"/>
                </a:solidFill>
              </a:rPr>
              <a:t>제조·재고·업무·주간보고·프로젝트·A/S 주요 화면과 로직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36E3B-BC6E-4CCA-8817-C5C1A55D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3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487EC-9517-4CA2-9CF4-4DB0C708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FF"/>
                </a:solidFill>
              </a:defRPr>
            </a:pPr>
            <a:r>
              <a:rPr sz="1275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EA0F1-997F-4EF5-AA4A-8B72804E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2B"/>
                </a:solidFill>
              </a:defRPr>
            </a:pPr>
            <a:r>
              <a:rPr sz="1875" b="1">
                <a:solidFill>
                  <a:srgbClr val="14212B"/>
                </a:solidFill>
              </a:rPr>
              <a:t>현재 보완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15AF3-1ECE-4544-9B2F-2C75508B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2"/>
                </a:solidFill>
              </a:defRPr>
            </a:pPr>
            <a:r>
              <a:rPr sz="1425" b="0">
                <a:solidFill>
                  <a:srgbClr val="5B6872"/>
                </a:solidFill>
              </a:rPr>
              <a:t>권한별 사용성, 입력 흐름, 데이터 연결, 예외 처리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C44F0-0333-4ECE-B061-64F0C3EF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3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54F00-F0E9-4EE4-AE4A-F5D13F50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FF"/>
                </a:solidFill>
              </a:defRPr>
            </a:pPr>
            <a:r>
              <a:rPr sz="1275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4D808-85B5-45BD-9CD6-0CD339C2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2B"/>
                </a:solidFill>
              </a:defRPr>
            </a:pPr>
            <a:r>
              <a:rPr sz="1875" b="1">
                <a:solidFill>
                  <a:srgbClr val="14212B"/>
                </a:solidFill>
              </a:rPr>
              <a:t>협업 방식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C3867-D96E-4791-9F0A-6291A74B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909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2"/>
                </a:solidFill>
              </a:defRPr>
            </a:pPr>
            <a:r>
              <a:rPr sz="1425" b="0">
                <a:solidFill>
                  <a:srgbClr val="5B6872"/>
                </a:solidFill>
              </a:rPr>
              <a:t>사수와 도메인 규칙을 공유하고 Git으로 기능 통합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20868-E682-4C4D-9537-52D1875E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3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F59A8-90A7-4F61-AD01-A95B252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FF"/>
                </a:solidFill>
              </a:defRPr>
            </a:pPr>
            <a:r>
              <a:rPr sz="1275" b="1">
                <a:solidFill>
                  <a:srgbClr val="1677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4CF1B-E9A6-46EC-BA68-33DC90F4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2B"/>
                </a:solidFill>
              </a:defRPr>
            </a:pPr>
            <a:r>
              <a:rPr sz="1875" b="1">
                <a:solidFill>
                  <a:srgbClr val="14212B"/>
                </a:solidFill>
              </a:rPr>
              <a:t>다음 단계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E59DC-9C0C-43EF-ACBB-13825AD3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2"/>
                </a:solidFill>
              </a:defRPr>
            </a:pPr>
            <a:r>
              <a:rPr sz="1425" b="0">
                <a:solidFill>
                  <a:srgbClr val="5B6872"/>
                </a:solidFill>
              </a:rPr>
              <a:t>현장 피드백 반영, 테스트 데이터 정비, 배포 안정화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53DFD-83CC-4CF1-879D-517C9FA4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3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454B5-95F8-460C-AE65-5BCE27BE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2"/>
                </a:solidFill>
              </a:defRPr>
            </a:pPr>
            <a:r>
              <a:rPr sz="900" b="0">
                <a:solidFill>
                  <a:srgbClr val="5B68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38519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A89A2-93FC-46BD-AAE9-D939F159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PORTFOLIO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BAC2D-CE6C-4370-9DAA-C60837CE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12B"/>
                </a:solidFill>
              </a:defRPr>
            </a:pPr>
            <a:r>
              <a:rPr sz="3600" b="1">
                <a:solidFill>
                  <a:srgbClr val="14212B"/>
                </a:solidFill>
              </a:rPr>
              <a:t>현장 업무를 이해하고</a:t>
            </a:r>
          </a:p>
          <a:p xmlns:a="http://schemas.openxmlformats.org/drawingml/2006/main">
            <a:pPr algn="l">
              <a:defRPr sz="3600" b="1">
                <a:solidFill>
                  <a:srgbClr val="14212B"/>
                </a:solidFill>
              </a:defRPr>
            </a:pPr>
            <a:r>
              <a:rPr sz="3600" b="1">
                <a:solidFill>
                  <a:srgbClr val="14212B"/>
                </a:solidFill>
              </a:rPr>
              <a:t>웹 시스템의 흐름으로 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E0555-20E1-45AC-90AF-37AFBBBB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2B"/>
                </a:solidFill>
              </a:defRPr>
            </a:pPr>
            <a:r>
              <a:rPr sz="1725" b="1">
                <a:solidFill>
                  <a:srgbClr val="14212B"/>
                </a:solidFill>
              </a:rPr>
              <a:t>01  PHP·MySQL 기반 웹 서비스 구조 이해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7D4E6-69A5-4EFF-8B62-34499B88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2B"/>
                </a:solidFill>
              </a:defRPr>
            </a:pPr>
            <a:r>
              <a:rPr sz="1725" b="1">
                <a:solidFill>
                  <a:srgbClr val="14212B"/>
                </a:solidFill>
              </a:rPr>
              <a:t>02  업무공유·주간보고·A/S 프로세스 개발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71903-915C-4932-A739-60168B73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2B"/>
                </a:solidFill>
              </a:defRPr>
            </a:pPr>
            <a:r>
              <a:rPr sz="1725" b="1">
                <a:solidFill>
                  <a:srgbClr val="14212B"/>
                </a:solidFill>
              </a:rPr>
              <a:t>03  Git 협업과 공동 프로젝트 관리 경험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A8A6C-A889-4E07-825E-78EA6E08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984EA-074A-4E49-AFA1-D33BB1F8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양호용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5F6D9-8ABF-4EC8-B685-F1F93974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202121639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5CB63-2BCD-4EAD-897A-E1A30596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PHP · DB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Web · Git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Process Design</a:t>
            </a:r>
          </a:p>
        </p:txBody>
      </p:sp>
    </p:spTree>
    <p:extLst>
      <p:ext uri="{BB962C8B-B14F-4D97-AF65-F5344CB8AC3E}">
        <p14:creationId xmlns:p14="http://schemas.microsoft.com/office/powerpoint/2010/main" val="725338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2026-08-13T02:33:22.0480000Z</dcterms:created>
  <dcterms:modified xsi:type="dcterms:W3CDTF">2026-08-13T02:33:22.0480000Z</dcterms:modified>
</coreProperties>
</file>