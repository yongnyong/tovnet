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 w="12700">
            <a:solidFill>
              <a:srgbClr val="F5F7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943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TANCHEON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1325880"/>
            <a:ext cx="5806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탄천물재생센터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CCTV 원격 모니터링 네트워크 구축·트러블슈팅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86207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B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Omada Cloud · ER605 · 포트포워딩 · DHCP 고정 · 현장 장비 연결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456432"/>
            <a:ext cx="1554480" cy="292608"/>
          </a:xfrm>
          <a:prstGeom prst="rect">
            <a:avLst/>
          </a:prstGeom>
          <a:solidFill>
            <a:srgbClr val="EAF7F3"/>
          </a:solidFill>
          <a:ln w="8890">
            <a:solidFill>
              <a:srgbClr val="BFE7D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6호기 / 9호기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23160" y="3456432"/>
            <a:ext cx="1874520" cy="292608"/>
          </a:xfrm>
          <a:prstGeom prst="rect">
            <a:avLst/>
          </a:prstGeom>
          <a:solidFill>
            <a:srgbClr val="EAF7F3"/>
          </a:solidFill>
          <a:ln w="8890">
            <a:solidFill>
              <a:srgbClr val="BFE7D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CCTV·열화상·PTZ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434840" y="3456432"/>
            <a:ext cx="2011680" cy="292608"/>
          </a:xfrm>
          <a:prstGeom prst="rect">
            <a:avLst/>
          </a:prstGeom>
          <a:solidFill>
            <a:srgbClr val="EAF7F3"/>
          </a:solidFill>
          <a:ln w="8890">
            <a:solidFill>
              <a:srgbClr val="BFE7D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네트워크 진단</a:t>
            </a:r>
            <a:endParaRPr lang="en-US" sz="1050" dirty="0"/>
          </a:p>
        </p:txBody>
      </p:sp>
      <p:pic>
        <p:nvPicPr>
          <p:cNvPr id="9" name="Image 0" descr="/mnt/data/portfolio_assets/tovnet_dashboard.png">    </p:cNvPr>
          <p:cNvPicPr>
            <a:picLocks noChangeAspect="1"/>
          </p:cNvPicPr>
          <p:nvPr/>
        </p:nvPicPr>
        <p:blipFill>
          <a:blip r:embed="rId1"/>
          <a:srcRect l="20837" r="20837" t="0" b="0"/>
          <a:stretch/>
        </p:blipFill>
        <p:spPr>
          <a:xfrm>
            <a:off x="6903720" y="914400"/>
            <a:ext cx="4617720" cy="34747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621792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A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보안상 로그인 계정·공인 IP 등 민감 정보는 제외/마스킹하여 정리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8428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탄천물재생센터란?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도시 하수 처리·방류 수질·시설 안전을 관리하는 서울 주요 물재생 인프라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13232" y="1508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4개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1947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D6B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물재생센터 중 하나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3246120" y="1508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강남구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46120" y="1947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D6B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개포로 일대 위치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5779008" y="1508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4개구+2개시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779008" y="1947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D6B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처리구역 포함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8302752" y="1508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90만㎥/일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302752" y="1947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D6B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탄천 시설용량 자료 기준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749808" y="29077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CCTV·열화상 카메라의 의미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41248" y="3401568"/>
            <a:ext cx="539496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수처리 시설 주변의 이상 상황과 출입·안전 상태를 실시간 확인
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물재생센터 운영 환경에서 원격 모니터링 신뢰성이 중요
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장비와 네트워크 설정이 맞지 않으면 앱은 보여도 웹·서버 연동은 실패 가능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6629400" y="2834640"/>
            <a:ext cx="685800" cy="685800"/>
          </a:xfrm>
          <a:prstGeom prst="arc">
            <a:avLst/>
          </a:prstGeom>
          <a:noFill/>
          <a:ln w="38100">
            <a:solidFill>
              <a:srgbClr val="00A8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2880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현장성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60920" y="3246120"/>
            <a:ext cx="38404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장비를 직접 연결하고 실제 통신 여부를 검증해야 문제 원인이 드러남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29400" y="4251960"/>
            <a:ext cx="685800" cy="685800"/>
          </a:xfrm>
          <a:prstGeom prst="arc">
            <a:avLst/>
          </a:prstGeom>
          <a:noFill/>
          <a:ln w="38100">
            <a:solidFill>
              <a:srgbClr val="00A88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4297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운영성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60920" y="4663440"/>
            <a:ext cx="38404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IP가 바뀌지 않도록 DHCP 예약과 포트포워딩 목적지 관리가 필요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" y="642823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8A98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서울특별시 물재생센터별 처리구역 현황, 서울물재생시설공단/서울시 시설현황 자료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138428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범위와 목표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6호기·9호기 CCTV/열화상/ PTZ 카메라의 원격 접속 경로를 현장에서 검증</a:t>
            </a:r>
            <a:endParaRPr lang="en-US" sz="1150" dirty="0"/>
          </a:p>
        </p:txBody>
      </p:sp>
      <p:pic>
        <p:nvPicPr>
          <p:cNvPr id="4" name="Image 0" descr="/mnt/data/portfolio_assets/tovnet_dashboard.png">    </p:cNvPr>
          <p:cNvPicPr>
            <a:picLocks noChangeAspect="1"/>
          </p:cNvPicPr>
          <p:nvPr/>
        </p:nvPicPr>
        <p:blipFill>
          <a:blip r:embed="rId1"/>
          <a:srcRect l="21062" r="21062" t="0" b="0"/>
          <a:stretch/>
        </p:blipFill>
        <p:spPr>
          <a:xfrm>
            <a:off x="685800" y="1325880"/>
            <a:ext cx="5486400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232" y="5596128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84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TOVNET 통합 모니터링 화면: 일부 영상은 표시, 일부는 신호 없음 상태 확인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537960" y="13533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목표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565392" y="1828800"/>
            <a:ext cx="470916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Omada ER605와 AP·카메라 연결 구조 확인
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포트포워딩 규칙의 목적지 IP/포트 오류 여부 진단
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내부 IP 유동 변경 문제를 DHCP 예약으로 해결하는 절차 수립
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직접 연결·PowerShell 테스트·웹 접속 검증으로 원인 분리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6537960" y="4160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역할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565392" y="4617720"/>
            <a:ext cx="480060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07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장비를 직접 연결하고, 현장 네트워크에서 실제 통신 테스트를 수행하며, Omada 설정과 카메라 IP 문제를 끝까지 추적한 실무형 트러블슈팅 담당</a:t>
            </a:r>
            <a:endParaRPr lang="en-US" sz="1420" dirty="0"/>
          </a:p>
        </p:txBody>
      </p:sp>
      <p:sp>
        <p:nvSpPr>
          <p:cNvPr id="10" name="Text 7"/>
          <p:cNvSpPr/>
          <p:nvPr/>
        </p:nvSpPr>
        <p:spPr>
          <a:xfrm>
            <a:off x="1138428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네트워크 구조 파악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 인터넷, ER605 게이트웨이, AP 3대, CCTV/열화상 장비가 연결된 구조로 확인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965960" y="3246120"/>
            <a:ext cx="1600200" cy="0"/>
          </a:xfrm>
          <a:prstGeom prst="line">
            <a:avLst/>
          </a:prstGeom>
          <a:noFill/>
          <a:ln w="25400">
            <a:solidFill>
              <a:srgbClr val="00A887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023360" y="3246120"/>
            <a:ext cx="1645920" cy="0"/>
          </a:xfrm>
          <a:prstGeom prst="line">
            <a:avLst/>
          </a:prstGeom>
          <a:noFill/>
          <a:ln w="25400">
            <a:solidFill>
              <a:srgbClr val="00A887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126480" y="3246120"/>
            <a:ext cx="1783080" cy="0"/>
          </a:xfrm>
          <a:prstGeom prst="line">
            <a:avLst/>
          </a:prstGeom>
          <a:noFill/>
          <a:ln w="25400">
            <a:solidFill>
              <a:srgbClr val="00A887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366760" y="3246120"/>
            <a:ext cx="1874520" cy="0"/>
          </a:xfrm>
          <a:prstGeom prst="line">
            <a:avLst/>
          </a:prstGeom>
          <a:noFill/>
          <a:ln w="25400">
            <a:solidFill>
              <a:srgbClr val="00A887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822960" y="2926080"/>
            <a:ext cx="1508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E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 인터넷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41985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B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외부망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880360" y="2926080"/>
            <a:ext cx="1508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E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ER605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80360" y="341985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B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83480" y="2926080"/>
            <a:ext cx="1508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E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 / 스위치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83480" y="341985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B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내부망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223760" y="2926080"/>
            <a:ext cx="1508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E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CCTV·PTZ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223760" y="341985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B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장비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555480" y="2926080"/>
            <a:ext cx="1508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E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TOVNET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555480" y="341985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B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</a:t>
            </a:r>
            <a:endParaRPr lang="en-US" sz="950" dirty="0"/>
          </a:p>
        </p:txBody>
      </p:sp>
      <p:pic>
        <p:nvPicPr>
          <p:cNvPr id="18" name="Image 0" descr="/mnt/data/portfolio_assets/omada_devices.png">    </p:cNvPr>
          <p:cNvPicPr>
            <a:picLocks noChangeAspect="1"/>
          </p:cNvPicPr>
          <p:nvPr/>
        </p:nvPicPr>
        <p:blipFill>
          <a:blip r:embed="rId1"/>
          <a:srcRect l="0" r="0" t="2257" b="2257"/>
          <a:stretch/>
        </p:blipFill>
        <p:spPr>
          <a:xfrm>
            <a:off x="749808" y="4251960"/>
            <a:ext cx="4937760" cy="1508760"/>
          </a:xfrm>
          <a:prstGeom prst="rect">
            <a:avLst/>
          </a:prstGeom>
        </p:spPr>
      </p:pic>
      <p:pic>
        <p:nvPicPr>
          <p:cNvPr id="19" name="Image 1" descr="/mnt/data/portfolio_assets/clients.png">    </p:cNvPr>
          <p:cNvPicPr>
            <a:picLocks noChangeAspect="1"/>
          </p:cNvPicPr>
          <p:nvPr/>
        </p:nvPicPr>
        <p:blipFill>
          <a:blip r:embed="rId2"/>
          <a:srcRect l="0" r="0" t="8495" b="8495"/>
          <a:stretch/>
        </p:blipFill>
        <p:spPr>
          <a:xfrm>
            <a:off x="6053328" y="4251960"/>
            <a:ext cx="4937760" cy="1508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49808" y="58704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84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Omada Devices: ER605 + EAP225 Outdoor AP 3대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6053328" y="587044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84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Clients 목록에서 실제 카메라 IP·MAC 확인 필요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749808" y="1417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판단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749808" y="1755648"/>
            <a:ext cx="1051560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앱 영상이 보인다고 해서 Omada 아래의 직접 RTSP/웹 경로가 정상이라는 뜻은 아니었다. 앱·클라우드 경로와 현장 포트포워딩 경로를 분리해서 확인했다.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1138428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작업: 장비 연결부터 규칙 확인까지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공유기·노트북·카메라를 직접 연결하고, 현장에서 실제 네트워크 값을 확인</a:t>
            </a:r>
            <a:endParaRPr lang="en-US" sz="1150" dirty="0"/>
          </a:p>
        </p:txBody>
      </p:sp>
      <p:pic>
        <p:nvPicPr>
          <p:cNvPr id="4" name="Image 0" descr="/mnt/data/portfolio_assets/port_forwarding.png">    </p:cNvPr>
          <p:cNvPicPr>
            <a:picLocks noChangeAspect="1"/>
          </p:cNvPicPr>
          <p:nvPr/>
        </p:nvPicPr>
        <p:blipFill>
          <a:blip r:embed="rId1"/>
          <a:srcRect l="20339" r="20339" t="0" b="0"/>
          <a:stretch/>
        </p:blipFill>
        <p:spPr>
          <a:xfrm>
            <a:off x="685800" y="1298448"/>
            <a:ext cx="6080760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232" y="559612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84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Omada NAT &gt; Port Forwarding 화면에서 Source Port, Destination IP:Port, Protocol 확인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086600" y="13898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26680" y="1389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연결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26680" y="170078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D6B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노트북을 ER605 LAN/Wi-Fi에 연결하고 ipconfig로 게이트웨이 확인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7086600" y="23500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26680" y="2350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 규칙 검토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26680" y="26609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D6B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6호기·9호기 WEB/RTSP/열화상 규칙의 목적지 IP와 포트 대조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7086600" y="33101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726680" y="33101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 검증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726680" y="362102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D6B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Ping, Test-NetConnection으로 80/443/554/8000/8080 테스트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7086600" y="42702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726680" y="4270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분리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726680" y="458114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D6B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클라우드 정상 vs 현장 직접 접속 실패 경로를 분리해 분석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1138428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Troubleshooting ①: 앱은 보이는데 직접 접속은 실패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정상 여부와 포트포워딩 정상 여부를 분리해서 판단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경로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764792"/>
            <a:ext cx="448056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→ 제조사 클라우드 → 휴대폰 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영상이 보여도 직접 RTSP가 열린 것은 아님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접속 경로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090672"/>
            <a:ext cx="448056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→ ER605 포트포워딩 → 내부 IP:Port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Destination IP가 과거 IP면 연결 실패</a:t>
            </a:r>
            <a:endParaRPr lang="en-US" sz="1300" dirty="0"/>
          </a:p>
        </p:txBody>
      </p:sp>
      <p:pic>
        <p:nvPicPr>
          <p:cNvPr id="8" name="Image 0" descr="/mnt/data/4871ad49-6e2c-4c78-8085-ff2d75599a90.png">    </p:cNvPr>
          <p:cNvPicPr>
            <a:picLocks noChangeAspect="1"/>
          </p:cNvPicPr>
          <p:nvPr/>
        </p:nvPicPr>
        <p:blipFill>
          <a:blip r:embed="rId1"/>
          <a:srcRect l="16963" r="16963" t="0" b="0"/>
          <a:stretch/>
        </p:blipFill>
        <p:spPr>
          <a:xfrm>
            <a:off x="749808" y="4434840"/>
            <a:ext cx="1024128" cy="1783080"/>
          </a:xfrm>
          <a:prstGeom prst="rect">
            <a:avLst/>
          </a:prstGeom>
        </p:spPr>
      </p:pic>
      <p:pic>
        <p:nvPicPr>
          <p:cNvPr id="9" name="Image 1" descr="/mnt/data/12c4289f-e409-4b1a-991f-80bdfd112943.png">    </p:cNvPr>
          <p:cNvPicPr>
            <a:picLocks noChangeAspect="1"/>
          </p:cNvPicPr>
          <p:nvPr/>
        </p:nvPicPr>
        <p:blipFill>
          <a:blip r:embed="rId2"/>
          <a:srcRect l="14009" r="14009" t="0" b="0"/>
          <a:stretch/>
        </p:blipFill>
        <p:spPr>
          <a:xfrm>
            <a:off x="1920240" y="4434840"/>
            <a:ext cx="1024128" cy="1783080"/>
          </a:xfrm>
          <a:prstGeom prst="rect">
            <a:avLst/>
          </a:prstGeom>
        </p:spPr>
      </p:pic>
      <p:pic>
        <p:nvPicPr>
          <p:cNvPr id="10" name="Image 2" descr="/mnt/data/4dadde42-ce6a-40c8-839c-4690f48cef7a.png">    </p:cNvPr>
          <p:cNvPicPr>
            <a:picLocks noChangeAspect="1"/>
          </p:cNvPicPr>
          <p:nvPr/>
        </p:nvPicPr>
        <p:blipFill>
          <a:blip r:embed="rId3"/>
          <a:srcRect l="19501" r="19501" t="0" b="0"/>
          <a:stretch/>
        </p:blipFill>
        <p:spPr>
          <a:xfrm>
            <a:off x="3090672" y="4434840"/>
            <a:ext cx="1024128" cy="1783080"/>
          </a:xfrm>
          <a:prstGeom prst="rect">
            <a:avLst/>
          </a:prstGeom>
        </p:spPr>
      </p:pic>
      <p:pic>
        <p:nvPicPr>
          <p:cNvPr id="11" name="Image 3" descr="/mnt/data/308c1a7e-42f9-46f1-8de0-aa796225fce0.png">    </p:cNvPr>
          <p:cNvPicPr>
            <a:picLocks noChangeAspect="1"/>
          </p:cNvPicPr>
          <p:nvPr/>
        </p:nvPicPr>
        <p:blipFill>
          <a:blip r:embed="rId4"/>
          <a:srcRect l="13003" r="13003" t="0" b="0"/>
          <a:stretch/>
        </p:blipFill>
        <p:spPr>
          <a:xfrm>
            <a:off x="4261104" y="4434840"/>
            <a:ext cx="1024128" cy="17830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49808" y="632764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84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앱에 표시된 내부 IP 후보: 192.168.0.12 / .13 / .14 / .83</a:t>
            </a:r>
            <a:endParaRPr lang="en-US" sz="850" dirty="0"/>
          </a:p>
        </p:txBody>
      </p:sp>
      <p:pic>
        <p:nvPicPr>
          <p:cNvPr id="13" name="Image 4" descr="/mnt/data/portfolio_assets/powershell.png">    </p:cNvPr>
          <p:cNvPicPr>
            <a:picLocks noChangeAspect="1"/>
          </p:cNvPicPr>
          <p:nvPr/>
        </p:nvPicPr>
        <p:blipFill>
          <a:blip r:embed="rId5"/>
          <a:srcRect l="0" r="0" t="11880" b="11880"/>
          <a:stretch/>
        </p:blipFill>
        <p:spPr>
          <a:xfrm>
            <a:off x="5806440" y="1417320"/>
            <a:ext cx="5440680" cy="24688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806440" y="42519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결과 해석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5806440" y="4645152"/>
            <a:ext cx="530352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“대상 호스트에 연결할 수 없습니다”는 해당 내부망에서 장비를 못 찾는 상태
</a:t>
            </a:r>
            <a:endParaRPr lang="en-US" sz="1260" dirty="0"/>
          </a:p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IP가 현재 Omada 내부 클라이언트라는 보장은 없음
</a:t>
            </a:r>
            <a:endParaRPr lang="en-US" sz="1260" dirty="0"/>
          </a:p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유동 IP라면 포트포워딩 목적지가 계속 과거 IP로 남을 수 있음</a:t>
            </a:r>
            <a:endParaRPr lang="en-US" sz="1260" dirty="0"/>
          </a:p>
        </p:txBody>
      </p:sp>
      <p:sp>
        <p:nvSpPr>
          <p:cNvPr id="16" name="Text 9"/>
          <p:cNvSpPr/>
          <p:nvPr/>
        </p:nvSpPr>
        <p:spPr>
          <a:xfrm>
            <a:off x="1138428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Troubleshooting ②: 포트포워딩의 핵심은 목적지 IP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포트가 열려 있어도 내부 목적지가 틀리면 카메라에 도달하지 못함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331720" y="2267712"/>
            <a:ext cx="2057400" cy="0"/>
          </a:xfrm>
          <a:prstGeom prst="line">
            <a:avLst/>
          </a:prstGeom>
          <a:noFill/>
          <a:ln w="25400">
            <a:solidFill>
              <a:srgbClr val="00A887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126480" y="2267712"/>
            <a:ext cx="2148840" cy="0"/>
          </a:xfrm>
          <a:prstGeom prst="line">
            <a:avLst/>
          </a:prstGeom>
          <a:noFill/>
          <a:ln w="25400">
            <a:solidFill>
              <a:srgbClr val="00A887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1463040" cy="868680"/>
          </a:xfrm>
          <a:prstGeom prst="rect">
            <a:avLst/>
          </a:prstGeom>
          <a:solidFill>
            <a:srgbClr val="EFF9F6"/>
          </a:solidFill>
          <a:ln w="12700">
            <a:solidFill>
              <a:srgbClr val="BFE7D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접속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공인 IP:Source Port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34840" y="1828800"/>
            <a:ext cx="1645920" cy="868680"/>
          </a:xfrm>
          <a:prstGeom prst="rect">
            <a:avLst/>
          </a:prstGeom>
          <a:solidFill>
            <a:srgbClr val="EFF9F6"/>
          </a:solidFill>
          <a:ln w="12700">
            <a:solidFill>
              <a:srgbClr val="BFE7D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ER605 NAT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 Forwarding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21040" y="1828800"/>
            <a:ext cx="1737360" cy="868680"/>
          </a:xfrm>
          <a:prstGeom prst="rect">
            <a:avLst/>
          </a:prstGeom>
          <a:solidFill>
            <a:srgbClr val="EFF9F6"/>
          </a:solidFill>
          <a:ln w="12700">
            <a:solidFill>
              <a:srgbClr val="BFE7D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Destination IP:Port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규칙 예시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3639312"/>
            <a:ext cx="868680" cy="320040"/>
          </a:xfrm>
          <a:prstGeom prst="rect">
            <a:avLst/>
          </a:prstGeom>
          <a:solidFill>
            <a:srgbClr val="00796B"/>
          </a:solidFill>
          <a:ln w="8890">
            <a:solidFill>
              <a:srgbClr val="00796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28800" y="3639312"/>
            <a:ext cx="1280160" cy="320040"/>
          </a:xfrm>
          <a:prstGeom prst="rect">
            <a:avLst/>
          </a:prstGeom>
          <a:solidFill>
            <a:srgbClr val="00796B"/>
          </a:solidFill>
          <a:ln w="8890">
            <a:solidFill>
              <a:srgbClr val="00796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Port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46120" y="3639312"/>
            <a:ext cx="1554480" cy="320040"/>
          </a:xfrm>
          <a:prstGeom prst="rect">
            <a:avLst/>
          </a:prstGeom>
          <a:solidFill>
            <a:srgbClr val="00796B"/>
          </a:solidFill>
          <a:ln w="8890">
            <a:solidFill>
              <a:srgbClr val="00796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Destination IP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92040" y="3639312"/>
            <a:ext cx="1508760" cy="320040"/>
          </a:xfrm>
          <a:prstGeom prst="rect">
            <a:avLst/>
          </a:prstGeom>
          <a:solidFill>
            <a:srgbClr val="00796B"/>
          </a:solidFill>
          <a:ln w="8890">
            <a:solidFill>
              <a:srgbClr val="00796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Destination Port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3986784"/>
            <a:ext cx="86868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D5E1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1828800" y="3986784"/>
            <a:ext cx="128016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D5E1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10083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3246120" y="3986784"/>
            <a:ext cx="155448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D5E1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카메라 IP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4892040" y="3986784"/>
            <a:ext cx="150876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D5E1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868680" y="4370832"/>
            <a:ext cx="86868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D5E1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RTSP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1828800" y="4370832"/>
            <a:ext cx="128016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D5E1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10084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3246120" y="4370832"/>
            <a:ext cx="155448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D5E1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카메라 IP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4892040" y="4370832"/>
            <a:ext cx="150876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D5E1E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554 또는 실제 RTSP 포트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690372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판단 포인트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903720" y="3639312"/>
            <a:ext cx="43891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카메라의 WEB·RTSP는 Destination IP가 같아야 함
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유동 IP가 바뀌면 포트포워딩은 즉시 깨짐
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DHCP 예약으로 내부 IP를 고정한 뒤 규칙을 맞춰야 재발 방지</a:t>
            </a:r>
            <a:endParaRPr lang="en-US" sz="1250" dirty="0"/>
          </a:p>
        </p:txBody>
      </p:sp>
      <p:pic>
        <p:nvPicPr>
          <p:cNvPr id="24" name="Image 0" descr="/mnt/data/portfolio_assets/current_po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1818" y="5166360"/>
            <a:ext cx="1547165" cy="8229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903720" y="617220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784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목적지 IP와 목적지 포트가 실제 카메라 서비스와 일치해야 함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38428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정리한 재발 방지 프로세스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초기화 이후 새 IP를 확인하고, DHCP 예약과 포트포워딩을 함께 관리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502920" cy="502920"/>
          </a:xfrm>
          <a:prstGeom prst="rect">
            <a:avLst/>
          </a:prstGeom>
          <a:solidFill>
            <a:srgbClr val="00796B"/>
          </a:solidFill>
          <a:ln>
            <a:solidFill>
              <a:srgbClr val="0079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54480" y="13990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공유기 직접 연결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554480" y="1746504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D6B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LAN/Wi-Fi 연결 후 ipconfig로 192.168.0.x와 게이트웨이 확인</a:t>
            </a:r>
            <a:endParaRPr lang="en-US" sz="1070" dirty="0"/>
          </a:p>
        </p:txBody>
      </p:sp>
      <p:sp>
        <p:nvSpPr>
          <p:cNvPr id="7" name="Text 5"/>
          <p:cNvSpPr/>
          <p:nvPr/>
        </p:nvSpPr>
        <p:spPr>
          <a:xfrm>
            <a:off x="6537960" y="1417320"/>
            <a:ext cx="502920" cy="502920"/>
          </a:xfrm>
          <a:prstGeom prst="rect">
            <a:avLst/>
          </a:prstGeom>
          <a:solidFill>
            <a:srgbClr val="00796B"/>
          </a:solidFill>
          <a:ln>
            <a:solidFill>
              <a:srgbClr val="0079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23760" y="13990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식별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223760" y="1746504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D6B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Clients/DHCP 목록에서 새로 나타난 Wired 장비의 IP·MAC 확인</a:t>
            </a:r>
            <a:endParaRPr lang="en-US" sz="1070" dirty="0"/>
          </a:p>
        </p:txBody>
      </p:sp>
      <p:sp>
        <p:nvSpPr>
          <p:cNvPr id="10" name="Text 8"/>
          <p:cNvSpPr/>
          <p:nvPr/>
        </p:nvSpPr>
        <p:spPr>
          <a:xfrm>
            <a:off x="868680" y="2834640"/>
            <a:ext cx="502920" cy="502920"/>
          </a:xfrm>
          <a:prstGeom prst="rect">
            <a:avLst/>
          </a:prstGeom>
          <a:solidFill>
            <a:srgbClr val="00796B"/>
          </a:solidFill>
          <a:ln>
            <a:solidFill>
              <a:srgbClr val="0079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8163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 테스트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554480" y="3163824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D6B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접속, 80/554 포트 확인, RTSP 여부 검증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6537960" y="2834640"/>
            <a:ext cx="502920" cy="502920"/>
          </a:xfrm>
          <a:prstGeom prst="rect">
            <a:avLst/>
          </a:prstGeom>
          <a:solidFill>
            <a:srgbClr val="00796B"/>
          </a:solidFill>
          <a:ln>
            <a:solidFill>
              <a:srgbClr val="0079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23760" y="28163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 고정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223760" y="3163824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D6B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Omada에서 DHCP 예약 또는 Fixed IP 적용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868680" y="4251960"/>
            <a:ext cx="502920" cy="502920"/>
          </a:xfrm>
          <a:prstGeom prst="rect">
            <a:avLst/>
          </a:prstGeom>
          <a:solidFill>
            <a:srgbClr val="00796B"/>
          </a:solidFill>
          <a:ln>
            <a:solidFill>
              <a:srgbClr val="0079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2336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포트포워딩 정리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54480" y="4581144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D6B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Port는 유지, Destination IP:Port만 실제 값으로 수정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6537960" y="4251960"/>
            <a:ext cx="502920" cy="502920"/>
          </a:xfrm>
          <a:prstGeom prst="rect">
            <a:avLst/>
          </a:prstGeom>
          <a:solidFill>
            <a:srgbClr val="00796B"/>
          </a:solidFill>
          <a:ln>
            <a:solidFill>
              <a:srgbClr val="0079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23760" y="42336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검증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223760" y="4581144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D6B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 모바일 데이터로 공인 IP:Source Port 접속 확인</a:t>
            </a:r>
            <a:endParaRPr lang="en-US" sz="1070" dirty="0"/>
          </a:p>
        </p:txBody>
      </p:sp>
      <p:sp>
        <p:nvSpPr>
          <p:cNvPr id="22" name="Text 20"/>
          <p:cNvSpPr/>
          <p:nvPr/>
        </p:nvSpPr>
        <p:spPr>
          <a:xfrm>
            <a:off x="868680" y="5779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작업에서 강조할 점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611880" y="5760720"/>
            <a:ext cx="7315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단순히 관리자 화면만 본 것이 아니라, 카메라·공유기·노트북을 직접 연결하고 실제 통신 결과를 기준으로 문제를 좁혀갔다.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38428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성과: 문제 원인 후보를 실행 가능한 조치로 전환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테스트를 통해 “카메라 고장”이 아닌 네트워크·IP 관리 문제로 분리</a:t>
            </a:r>
            <a:endParaRPr lang="en-US" sz="1150" dirty="0"/>
          </a:p>
        </p:txBody>
      </p:sp>
      <p:pic>
        <p:nvPicPr>
          <p:cNvPr id="4" name="Image 0" descr="/mnt/data/portfolio_assets/port_forwarding.png">    </p:cNvPr>
          <p:cNvPicPr>
            <a:picLocks noChangeAspect="1"/>
          </p:cNvPicPr>
          <p:nvPr/>
        </p:nvPicPr>
        <p:blipFill>
          <a:blip r:embed="rId1"/>
          <a:srcRect l="16950" r="16950" t="0" b="0"/>
          <a:stretch/>
        </p:blipFill>
        <p:spPr>
          <a:xfrm>
            <a:off x="685800" y="1325880"/>
            <a:ext cx="521208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63640" y="1371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확인한 문제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263640" y="1773936"/>
            <a:ext cx="493776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포트포워딩에 남은 Destination IP가 실제 카메라 현재 IP와 다를 수 있음
</a:t>
            </a:r>
            <a:endParaRPr lang="en-US" sz="1280" dirty="0"/>
          </a:p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유선 연결이어도 DHCP라면 내부 IP가 바뀔 수 있음
</a:t>
            </a:r>
            <a:endParaRPr lang="en-US" sz="1280" dirty="0"/>
          </a:p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영상 정상은 클라우드 경로 정상일 뿐, 현장 포트포워딩 정상과 다름</a:t>
            </a:r>
            <a:endParaRPr lang="en-US" sz="1280" dirty="0"/>
          </a:p>
        </p:txBody>
      </p:sp>
      <p:sp>
        <p:nvSpPr>
          <p:cNvPr id="7" name="Text 4"/>
          <p:cNvSpPr/>
          <p:nvPr/>
        </p:nvSpPr>
        <p:spPr>
          <a:xfrm>
            <a:off x="6263640" y="3657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남긴 산출물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263640" y="4059936"/>
            <a:ext cx="493776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6호기·9호기 포트포워딩 규칙 검토 기준
</a:t>
            </a:r>
            <a:endParaRPr lang="en-US" sz="1280" dirty="0"/>
          </a:p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IP 확인 및 포트 테스트 절차
</a:t>
            </a:r>
            <a:endParaRPr lang="en-US" sz="1280" dirty="0"/>
          </a:p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DHCP 예약과 외부 접속 재검증 순서
</a:t>
            </a:r>
            <a:endParaRPr lang="en-US" sz="1280" dirty="0"/>
          </a:p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1621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카메라 초기화 후 적용할 고정 IP 운영 방식</a:t>
            </a:r>
            <a:endParaRPr lang="en-US" sz="1280" dirty="0"/>
          </a:p>
        </p:txBody>
      </p:sp>
      <p:sp>
        <p:nvSpPr>
          <p:cNvPr id="9" name="Text 6"/>
          <p:cNvSpPr/>
          <p:nvPr/>
        </p:nvSpPr>
        <p:spPr>
          <a:xfrm>
            <a:off x="731520" y="48920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874520" y="48920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규칙은 있으나 실제 IP 불일치 가능성으로 접속 실패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31520" y="52852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874520" y="52852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 고정 예약 + 목적지 규칙 정합성 확인 프로세스 수립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138428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94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PORTFOLIO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13232" y="12344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네트워크 문제를 직접 장비 연결과 데이터 기반 테스트로 해결한 경험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301752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DE7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네트워크 점검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DDE7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Omada 설정 분석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DDE7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접속 테스트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434840" y="27889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키워드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34840" y="3246120"/>
            <a:ext cx="301752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DE7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Omada Cloud / ER605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DDE7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NAT·Port Forwarding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DDE7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DHCP Reservation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DDE7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RTSP·HTTP·PowerShell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138160" y="27889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강조 포인트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38160" y="3246120"/>
            <a:ext cx="301752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DE7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카메라와 공유기를 직접 연결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DDE7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앱·클라우드·직접접속 경로 분리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DDE7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 방지 절차 문서화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31520" y="60807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1A9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보안·민감정보 처리: 계정, 비밀번호, 공인 IP 등은 포트폴리오 산출물에서 제외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38428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탄천물재생센터 CCTV 네트워크 포트폴리오</dc:title>
  <dc:subject>탄천물재생센터 CCTV 네트워크 포트폴리오</dc:subject>
  <dc:creator>OpenAI</dc:creator>
  <cp:lastModifiedBy>OpenAI</cp:lastModifiedBy>
  <cp:revision>1</cp:revision>
  <dcterms:created xsi:type="dcterms:W3CDTF">2026-07-03T01:26:25Z</dcterms:created>
  <dcterms:modified xsi:type="dcterms:W3CDTF">2026-07-03T01:26:25Z</dcterms:modified>
</cp:coreProperties>
</file>